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B9B1A14-1491-EA75-0242-58367821509D}">
          <p14:sldIdLst>
            <p14:sldId id="256"/>
            <p14:sldId id="257"/>
          </p14:sldIdLst>
        </p14:section>
        <p14:section name="Research" id="{71EEAC0E-46D9-8DE7-C15D-BCC20DA28A59}">
          <p14:sldIdLst>
            <p14:sldId id="258"/>
          </p14:sldIdLst>
        </p14:section>
        <p14:section name="Design" id="{9A531164-DE9A-302D-7FE7-A1EE97FC9A12}">
          <p14:sldIdLst>
            <p14:sldId id="259"/>
            <p14:sldId id="260"/>
          </p14:sldIdLst>
        </p14:section>
        <p14:section name="Architecture" id="{276AE17F-6ABC-018B-ECB3-0B416F4CBCBC}">
          <p14:sldIdLst>
            <p14:sldId id="261"/>
            <p14:sldId id="262"/>
          </p14:sldIdLst>
        </p14:section>
        <p14:section name="Agents" id="{3C8B4009-39AF-9D25-756C-34D1F7F046D0}">
          <p14:sldIdLst>
            <p14:sldId id="263"/>
          </p14:sldIdLst>
        </p14:section>
        <p14:section name="Implementation" id="{4EF328AE-0E66-90FF-6FF5-A3D5E0AA5F6B}">
          <p14:sldIdLst>
            <p14:sldId id="264"/>
          </p14:sldIdLst>
        </p14:section>
        <p14:section name="Next" id="{53B49DE4-2C68-51CF-DF7E-61BA54B99F11}">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4057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built a Solution Enablement Platform. The short version: every solved case becomes reusable knowledge, and AI agents apply that knowledge carefully to the next case, while the engineer stays in control.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questions come straight from the brief. A good answer is not just 'here is a similar ticket' but 'this old fix does or does not apply to this customer, on this version, and here is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with research, not code. The main lessons: KCS tells you how knowledge should be captured, case-based reasoning gives the loop, ITIL gives problem management, hybrid search is needed because of error codes, and the agent research says only use autonomy where it is really needed. Details are in docs/01-research.md.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from the brief: new case, analysis, historical knowledge, AI assistance, engineer, solution, new knowledge. Two principles: AI suggests and people decide, and every outcome is stored so the next recommendation is better.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decisions I would defend. The most important one is applicability: similarity search alone would recommend the wrong fix in the brief's own example, because the old full-export workaround looks very similar but only works on version 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only talks to Directus. Directus Flows call the agent service when a case is created or resolved. The agent service reads through Directus with a restricted service account and writes only suggestions. Everything lives in one Postgres database, including the search index in its own schema. Gemini does the reasoning; embeddings run locally with Ollama.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 cases, solutions and the case_solutions link in the middle. That link stores whether a solution was applied, referenced or derived, whether it worked, and on which version. From that the database computes the track record per version, which is exactly what the agent needs to say 'this worked 5 times on 8.x but failed on 9.0'. The full ERD with all fields is in docs/02.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analysis is a fixed LangGraph pipeline. Only retrieval is a real agent: it can search, open solutions and cases, look at the customer's history and release changes, and decides when it has enough. Applicability is split on purpose: code collects hard facts, the LLM only judges. There are three more graphs. All of it is guarded and fully traced.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with docker compose and one setup command. Now I will show the demo with the example from the brief. [Live demo: create the Rheinwerk case, show the trace, SOL-016 first and SOL-001 not applicable, accept a next step, ask a question, resolve, approve the knowledge.]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row is what I would do in the next two weeks, the second row is the path to production. Thank you,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63040"/>
            <a:ext cx="7863840" cy="10972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2697480"/>
            <a:ext cx="7863840" cy="1280160"/>
          </a:xfrm>
          <a:prstGeom prst="rect">
            <a:avLst/>
          </a:prstGeom>
          <a:noFill/>
          <a:ln/>
        </p:spPr>
        <p:txBody>
          <a:bodyPr wrap="square" rtlCol="0"/>
          <a:lstStyle>
            <a:lvl1pPr marL="0" indent="0" algn="l">
              <a:buNone/>
              <a:defRPr lang="en-US" sz="1800" dirty="0">
                <a:solidFill>
                  <a:schemeClr val="accent4"/>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63040"/>
            <a:ext cx="7863840" cy="1097280"/>
          </a:xfrm>
          <a:prstGeom prst="rect">
            <a:avLst/>
          </a:prstGeom>
          <a:noFill/>
          <a:ln/>
        </p:spPr>
        <p:txBody>
          <a:bodyPr wrap="square" lIns="0" tIns="0" rIns="0" bIns="0" rtlCol="0" anchor="b"/>
          <a:lstStyle/>
          <a:p>
            <a:pPr marL="0" indent="0" algn="l">
              <a:buNone/>
            </a:pPr>
            <a:r>
              <a:rPr lang="en-US" sz="4000" b="1" dirty="0">
                <a:solidFill>
                  <a:schemeClr val="bg1"/>
                </a:solidFill>
              </a:rPr>
              <a:t>Solution Enablement Platform</a:t>
            </a:r>
            <a:endParaRPr lang="en-US" sz="4000" dirty="0"/>
          </a:p>
        </p:txBody>
      </p:sp>
      <p:sp>
        <p:nvSpPr>
          <p:cNvPr id="3" name="Text 0"/>
          <p:cNvSpPr>
            <a:spLocks noGrp="1"/>
          </p:cNvSpPr>
          <p:nvPr>
            <p:ph type="body" idx="101" hasCustomPrompt="1"/>
          </p:nvPr>
        </p:nvSpPr>
        <p:spPr>
          <a:xfrm>
            <a:off x="640080" y="2697480"/>
            <a:ext cx="7863840" cy="1280160"/>
          </a:xfrm>
          <a:prstGeom prst="rect">
            <a:avLst/>
          </a:prstGeom>
          <a:noFill/>
          <a:ln/>
        </p:spPr>
        <p:txBody>
          <a:bodyPr wrap="square" lIns="0" tIns="0" rIns="0" bIns="0" rtlCol="0" anchor="t"/>
          <a:lstStyle/>
          <a:p>
            <a:pPr marL="0" indent="0" algn="l">
              <a:buNone/>
            </a:pPr>
            <a:r>
              <a:rPr lang="en-US" sz="1800" dirty="0">
                <a:solidFill>
                  <a:schemeClr val="accent4"/>
                </a:solidFill>
              </a:rPr>
              <a:t>Using past cases and AI agents to help Viamedici engineers solve new customer problems</a:t>
            </a:r>
            <a:endParaRPr lang="en-US" sz="1800" dirty="0"/>
          </a:p>
        </p:txBody>
      </p:sp>
      <p:sp>
        <p:nvSpPr>
          <p:cNvPr id="5" name="TextBox 4">
            <a:extLst>
              <a:ext uri="{FF2B5EF4-FFF2-40B4-BE49-F238E27FC236}">
                <a16:creationId xmlns:a16="http://schemas.microsoft.com/office/drawing/2014/main" id="{C44B9DDD-505F-52B0-5246-50EEC3844054}"/>
              </a:ext>
            </a:extLst>
          </p:cNvPr>
          <p:cNvSpPr txBox="1"/>
          <p:nvPr/>
        </p:nvSpPr>
        <p:spPr>
          <a:xfrm>
            <a:off x="3720905" y="4561449"/>
            <a:ext cx="5992837" cy="369332"/>
          </a:xfrm>
          <a:prstGeom prst="rect">
            <a:avLst/>
          </a:prstGeom>
          <a:noFill/>
        </p:spPr>
        <p:txBody>
          <a:bodyPr wrap="square">
            <a:spAutoFit/>
          </a:bodyPr>
          <a:lstStyle/>
          <a:p>
            <a:pPr marL="0" indent="0" algn="l">
              <a:buNone/>
            </a:pPr>
            <a:r>
              <a:rPr lang="en-US" sz="1800" dirty="0" err="1">
                <a:solidFill>
                  <a:schemeClr val="accent4"/>
                </a:solidFill>
              </a:rPr>
              <a:t>Viamedici</a:t>
            </a:r>
            <a:r>
              <a:rPr lang="en-US" sz="1800" dirty="0">
                <a:solidFill>
                  <a:schemeClr val="accent4"/>
                </a:solidFill>
              </a:rPr>
              <a:t> x Monteiro Brothers engineering assessment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rPr>
              <a:t>The knowledge exists, but it isn't reused</a:t>
            </a:r>
            <a:endParaRPr lang="en-US" sz="2800" dirty="0"/>
          </a:p>
        </p:txBody>
      </p:sp>
      <p:sp>
        <p:nvSpPr>
          <p:cNvPr id="3" name="Text 1"/>
          <p:cNvSpPr txBox="1"/>
          <p:nvPr/>
        </p:nvSpPr>
        <p:spPr>
          <a:xfrm>
            <a:off x="457200" y="1143000"/>
            <a:ext cx="8229600" cy="822960"/>
          </a:xfrm>
          <a:prstGeom prst="rect">
            <a:avLst/>
          </a:prstGeom>
          <a:noFill/>
          <a:ln/>
        </p:spPr>
        <p:txBody>
          <a:bodyPr wrap="square" lIns="0" tIns="0" rIns="0" bIns="0" rtlCol="0" anchor="t"/>
          <a:lstStyle/>
          <a:p>
            <a:pPr marL="0" indent="0">
              <a:buNone/>
            </a:pPr>
            <a:r>
              <a:rPr lang="en-US" sz="1800" i="1" dirty="0">
                <a:solidFill>
                  <a:schemeClr val="tx2"/>
                </a:solidFill>
              </a:rPr>
              <a:t>"Our product information is not appearing correctly on the webshop after an update."</a:t>
            </a:r>
            <a:endParaRPr lang="en-US" sz="1300" dirty="0"/>
          </a:p>
        </p:txBody>
      </p:sp>
      <p:sp>
        <p:nvSpPr>
          <p:cNvPr id="4" name="Shape 2"/>
          <p:cNvSpPr/>
          <p:nvPr/>
        </p:nvSpPr>
        <p:spPr>
          <a:xfrm>
            <a:off x="457200" y="2240280"/>
            <a:ext cx="1527048" cy="960120"/>
          </a:xfrm>
          <a:prstGeom prst="roundRect">
            <a:avLst>
              <a:gd name="adj" fmla="val 7619"/>
            </a:avLst>
          </a:prstGeom>
          <a:solidFill>
            <a:schemeClr val="bg2"/>
          </a:solidFill>
          <a:ln/>
        </p:spPr>
      </p:sp>
      <p:sp>
        <p:nvSpPr>
          <p:cNvPr id="5" name="Text 3"/>
          <p:cNvSpPr txBox="1"/>
          <p:nvPr/>
        </p:nvSpPr>
        <p:spPr>
          <a:xfrm>
            <a:off x="566928" y="2313432"/>
            <a:ext cx="1307592" cy="813816"/>
          </a:xfrm>
          <a:prstGeom prst="rect">
            <a:avLst/>
          </a:prstGeom>
          <a:noFill/>
          <a:ln/>
        </p:spPr>
        <p:txBody>
          <a:bodyPr wrap="square" lIns="0" tIns="0" rIns="0" bIns="0" rtlCol="0" anchor="ctr"/>
          <a:lstStyle/>
          <a:p>
            <a:pPr marL="0" indent="0" algn="l">
              <a:spcAft>
                <a:spcPts val="300"/>
              </a:spcAft>
              <a:buNone/>
            </a:pPr>
            <a:r>
              <a:rPr lang="en-US" sz="1300" b="1" dirty="0">
                <a:solidFill>
                  <a:schemeClr val="tx2"/>
                </a:solidFill>
              </a:rPr>
              <a:t>Have we seen this before?</a:t>
            </a:r>
            <a:endParaRPr lang="en-US" sz="1300" dirty="0"/>
          </a:p>
        </p:txBody>
      </p:sp>
      <p:sp>
        <p:nvSpPr>
          <p:cNvPr id="6" name="Shape 4"/>
          <p:cNvSpPr/>
          <p:nvPr/>
        </p:nvSpPr>
        <p:spPr>
          <a:xfrm>
            <a:off x="2121408" y="2240280"/>
            <a:ext cx="1527048" cy="960120"/>
          </a:xfrm>
          <a:prstGeom prst="roundRect">
            <a:avLst>
              <a:gd name="adj" fmla="val 7619"/>
            </a:avLst>
          </a:prstGeom>
          <a:solidFill>
            <a:schemeClr val="bg2"/>
          </a:solidFill>
          <a:ln/>
        </p:spPr>
      </p:sp>
      <p:sp>
        <p:nvSpPr>
          <p:cNvPr id="7" name="Text 5"/>
          <p:cNvSpPr txBox="1"/>
          <p:nvPr/>
        </p:nvSpPr>
        <p:spPr>
          <a:xfrm>
            <a:off x="2231136" y="2313432"/>
            <a:ext cx="1307592" cy="813816"/>
          </a:xfrm>
          <a:prstGeom prst="rect">
            <a:avLst/>
          </a:prstGeom>
          <a:noFill/>
          <a:ln/>
        </p:spPr>
        <p:txBody>
          <a:bodyPr wrap="square" lIns="0" tIns="0" rIns="0" bIns="0" rtlCol="0" anchor="ctr"/>
          <a:lstStyle/>
          <a:p>
            <a:pPr marL="0" indent="0" algn="l">
              <a:spcAft>
                <a:spcPts val="300"/>
              </a:spcAft>
              <a:buNone/>
            </a:pPr>
            <a:r>
              <a:rPr lang="en-US" sz="1300" b="1" dirty="0">
                <a:solidFill>
                  <a:schemeClr val="tx2"/>
                </a:solidFill>
              </a:rPr>
              <a:t>What was the cause?</a:t>
            </a:r>
            <a:endParaRPr lang="en-US" sz="1300" dirty="0"/>
          </a:p>
        </p:txBody>
      </p:sp>
      <p:sp>
        <p:nvSpPr>
          <p:cNvPr id="8" name="Shape 6"/>
          <p:cNvSpPr/>
          <p:nvPr/>
        </p:nvSpPr>
        <p:spPr>
          <a:xfrm>
            <a:off x="3785616" y="2240280"/>
            <a:ext cx="1527048" cy="960120"/>
          </a:xfrm>
          <a:prstGeom prst="roundRect">
            <a:avLst>
              <a:gd name="adj" fmla="val 7619"/>
            </a:avLst>
          </a:prstGeom>
          <a:solidFill>
            <a:schemeClr val="bg2"/>
          </a:solidFill>
          <a:ln/>
        </p:spPr>
      </p:sp>
      <p:sp>
        <p:nvSpPr>
          <p:cNvPr id="9" name="Text 7"/>
          <p:cNvSpPr txBox="1"/>
          <p:nvPr/>
        </p:nvSpPr>
        <p:spPr>
          <a:xfrm>
            <a:off x="3895344" y="2313432"/>
            <a:ext cx="1307592" cy="813816"/>
          </a:xfrm>
          <a:prstGeom prst="rect">
            <a:avLst/>
          </a:prstGeom>
          <a:noFill/>
          <a:ln/>
        </p:spPr>
        <p:txBody>
          <a:bodyPr wrap="square" lIns="0" tIns="0" rIns="0" bIns="0" rtlCol="0" anchor="ctr"/>
          <a:lstStyle/>
          <a:p>
            <a:pPr marL="0" indent="0" algn="l">
              <a:spcAft>
                <a:spcPts val="300"/>
              </a:spcAft>
              <a:buNone/>
            </a:pPr>
            <a:r>
              <a:rPr lang="en-US" sz="1300" b="1" dirty="0">
                <a:solidFill>
                  <a:schemeClr val="tx2"/>
                </a:solidFill>
              </a:rPr>
              <a:t>How was it solved?</a:t>
            </a:r>
            <a:endParaRPr lang="en-US" sz="1300" dirty="0"/>
          </a:p>
        </p:txBody>
      </p:sp>
      <p:sp>
        <p:nvSpPr>
          <p:cNvPr id="10" name="Shape 8"/>
          <p:cNvSpPr/>
          <p:nvPr/>
        </p:nvSpPr>
        <p:spPr>
          <a:xfrm>
            <a:off x="5449824" y="2240280"/>
            <a:ext cx="1527048" cy="960120"/>
          </a:xfrm>
          <a:prstGeom prst="roundRect">
            <a:avLst>
              <a:gd name="adj" fmla="val 7619"/>
            </a:avLst>
          </a:prstGeom>
          <a:solidFill>
            <a:schemeClr val="bg2"/>
          </a:solidFill>
          <a:ln/>
        </p:spPr>
      </p:sp>
      <p:sp>
        <p:nvSpPr>
          <p:cNvPr id="11" name="Text 9"/>
          <p:cNvSpPr txBox="1"/>
          <p:nvPr/>
        </p:nvSpPr>
        <p:spPr>
          <a:xfrm>
            <a:off x="5559552" y="2313432"/>
            <a:ext cx="1307592" cy="813816"/>
          </a:xfrm>
          <a:prstGeom prst="rect">
            <a:avLst/>
          </a:prstGeom>
          <a:noFill/>
          <a:ln/>
        </p:spPr>
        <p:txBody>
          <a:bodyPr wrap="square" lIns="0" tIns="0" rIns="0" bIns="0" rtlCol="0" anchor="ctr"/>
          <a:lstStyle/>
          <a:p>
            <a:pPr marL="0" indent="0" algn="l">
              <a:spcAft>
                <a:spcPts val="300"/>
              </a:spcAft>
              <a:buNone/>
            </a:pPr>
            <a:r>
              <a:rPr lang="en-US" sz="1300" b="1" dirty="0">
                <a:solidFill>
                  <a:schemeClr val="tx2"/>
                </a:solidFill>
              </a:rPr>
              <a:t>Does that solution apply here?</a:t>
            </a:r>
            <a:endParaRPr lang="en-US" sz="1300" dirty="0"/>
          </a:p>
        </p:txBody>
      </p:sp>
      <p:sp>
        <p:nvSpPr>
          <p:cNvPr id="12" name="Shape 10"/>
          <p:cNvSpPr/>
          <p:nvPr/>
        </p:nvSpPr>
        <p:spPr>
          <a:xfrm>
            <a:off x="7114032" y="2240280"/>
            <a:ext cx="1527048" cy="960120"/>
          </a:xfrm>
          <a:prstGeom prst="roundRect">
            <a:avLst>
              <a:gd name="adj" fmla="val 7619"/>
            </a:avLst>
          </a:prstGeom>
          <a:solidFill>
            <a:schemeClr val="bg2"/>
          </a:solidFill>
          <a:ln/>
        </p:spPr>
      </p:sp>
      <p:sp>
        <p:nvSpPr>
          <p:cNvPr id="13" name="Text 11"/>
          <p:cNvSpPr txBox="1"/>
          <p:nvPr/>
        </p:nvSpPr>
        <p:spPr>
          <a:xfrm>
            <a:off x="7223760" y="2313432"/>
            <a:ext cx="1307592" cy="813816"/>
          </a:xfrm>
          <a:prstGeom prst="rect">
            <a:avLst/>
          </a:prstGeom>
          <a:noFill/>
          <a:ln/>
        </p:spPr>
        <p:txBody>
          <a:bodyPr wrap="square" lIns="0" tIns="0" rIns="0" bIns="0" rtlCol="0" anchor="ctr"/>
          <a:lstStyle/>
          <a:p>
            <a:pPr marL="0" indent="0" algn="l">
              <a:spcAft>
                <a:spcPts val="300"/>
              </a:spcAft>
              <a:buNone/>
            </a:pPr>
            <a:r>
              <a:rPr lang="en-US" sz="1300" b="1" dirty="0">
                <a:solidFill>
                  <a:schemeClr val="tx2"/>
                </a:solidFill>
              </a:rPr>
              <a:t>What should I check next?</a:t>
            </a:r>
            <a:endParaRPr lang="en-US" sz="1300" dirty="0"/>
          </a:p>
        </p:txBody>
      </p:sp>
      <p:sp>
        <p:nvSpPr>
          <p:cNvPr id="14" name="Text 12"/>
          <p:cNvSpPr txBox="1"/>
          <p:nvPr/>
        </p:nvSpPr>
        <p:spPr>
          <a:xfrm>
            <a:off x="457200" y="3520440"/>
            <a:ext cx="8229600" cy="914400"/>
          </a:xfrm>
          <a:prstGeom prst="rect">
            <a:avLst/>
          </a:prstGeom>
          <a:noFill/>
          <a:ln/>
        </p:spPr>
        <p:txBody>
          <a:bodyPr wrap="square" lIns="0" tIns="0" rIns="0" bIns="0" rtlCol="0" anchor="t"/>
          <a:lstStyle/>
          <a:p>
            <a:pPr marL="0" indent="0">
              <a:buNone/>
            </a:pPr>
            <a:r>
              <a:rPr lang="en-US" sz="1400" dirty="0">
                <a:solidFill>
                  <a:schemeClr val="tx1"/>
                </a:solidFill>
              </a:rPr>
              <a:t>Today the answers sit in old tickets and in people's heads, so a new engineer often starts from zero. </a:t>
            </a:r>
            <a:r>
              <a:rPr lang="en-US" sz="1400" b="1" dirty="0">
                <a:solidFill>
                  <a:schemeClr val="tx1"/>
                </a:solidFill>
              </a:rPr>
              <a:t>The platform has to answer these five questions and the engineer stays responsible for the decision.</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rPr>
              <a:t>What I researched</a:t>
            </a:r>
            <a:endParaRPr lang="en-US" sz="2800" dirty="0"/>
          </a:p>
        </p:txBody>
      </p:sp>
      <p:sp>
        <p:nvSpPr>
          <p:cNvPr id="3" name="Shape 1"/>
          <p:cNvSpPr/>
          <p:nvPr/>
        </p:nvSpPr>
        <p:spPr>
          <a:xfrm>
            <a:off x="457200" y="1143000"/>
            <a:ext cx="2606040" cy="1645920"/>
          </a:xfrm>
          <a:prstGeom prst="roundRect">
            <a:avLst>
              <a:gd name="adj" fmla="val 4444"/>
            </a:avLst>
          </a:prstGeom>
          <a:solidFill>
            <a:schemeClr val="bg2"/>
          </a:solidFill>
          <a:ln/>
        </p:spPr>
      </p:sp>
      <p:sp>
        <p:nvSpPr>
          <p:cNvPr id="4" name="Text 2"/>
          <p:cNvSpPr txBox="1"/>
          <p:nvPr/>
        </p:nvSpPr>
        <p:spPr>
          <a:xfrm>
            <a:off x="566928" y="1216152"/>
            <a:ext cx="2386584" cy="149961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Ticketing tools</a:t>
            </a:r>
            <a:endParaRPr lang="en-US" sz="1400" dirty="0"/>
          </a:p>
          <a:p>
            <a:pPr marL="0" indent="0" algn="l">
              <a:spcAft>
                <a:spcPts val="300"/>
              </a:spcAft>
              <a:buNone/>
            </a:pPr>
            <a:r>
              <a:rPr lang="en-US" sz="1100" dirty="0">
                <a:solidFill>
                  <a:schemeClr val="tx1"/>
                </a:solidFill>
              </a:rPr>
              <a:t>ServiceNow, Jira Service Management, Zendesk, Salesforce</a:t>
            </a:r>
            <a:endParaRPr lang="en-US" sz="1400" dirty="0"/>
          </a:p>
          <a:p>
            <a:pPr marL="0" indent="0" algn="l">
              <a:spcAft>
                <a:spcPts val="300"/>
              </a:spcAft>
              <a:buNone/>
            </a:pPr>
            <a:endParaRPr lang="en-US" sz="1400" dirty="0"/>
          </a:p>
          <a:p>
            <a:pPr marL="0" indent="0" algn="l">
              <a:spcAft>
                <a:spcPts val="300"/>
              </a:spcAft>
              <a:buNone/>
            </a:pPr>
            <a:r>
              <a:rPr lang="en-US" sz="1100" dirty="0">
                <a:solidFill>
                  <a:schemeClr val="tx1"/>
                </a:solidFill>
              </a:rPr>
              <a:t>They store tickets well but reuse depends on someone writing an article</a:t>
            </a:r>
            <a:endParaRPr lang="en-US" sz="1400" dirty="0"/>
          </a:p>
        </p:txBody>
      </p:sp>
      <p:sp>
        <p:nvSpPr>
          <p:cNvPr id="5" name="Shape 3"/>
          <p:cNvSpPr/>
          <p:nvPr/>
        </p:nvSpPr>
        <p:spPr>
          <a:xfrm>
            <a:off x="3246120" y="1143000"/>
            <a:ext cx="2606040" cy="1645920"/>
          </a:xfrm>
          <a:prstGeom prst="roundRect">
            <a:avLst>
              <a:gd name="adj" fmla="val 4444"/>
            </a:avLst>
          </a:prstGeom>
          <a:solidFill>
            <a:schemeClr val="bg2"/>
          </a:solidFill>
          <a:ln/>
        </p:spPr>
      </p:sp>
      <p:sp>
        <p:nvSpPr>
          <p:cNvPr id="6" name="Text 4"/>
          <p:cNvSpPr txBox="1"/>
          <p:nvPr/>
        </p:nvSpPr>
        <p:spPr>
          <a:xfrm>
            <a:off x="3355848" y="1216152"/>
            <a:ext cx="2386584" cy="149961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KCS</a:t>
            </a:r>
            <a:endParaRPr lang="en-US" sz="1400" dirty="0"/>
          </a:p>
          <a:p>
            <a:pPr marL="0" indent="0" algn="l">
              <a:spcAft>
                <a:spcPts val="300"/>
              </a:spcAft>
              <a:buNone/>
            </a:pPr>
            <a:r>
              <a:rPr lang="en-US" sz="1100" dirty="0">
                <a:solidFill>
                  <a:schemeClr val="tx1"/>
                </a:solidFill>
              </a:rPr>
              <a:t>Knowledge-Centered Service</a:t>
            </a:r>
            <a:endParaRPr lang="en-US" sz="1400" dirty="0"/>
          </a:p>
          <a:p>
            <a:pPr marL="0" indent="0" algn="l">
              <a:spcAft>
                <a:spcPts val="300"/>
              </a:spcAft>
              <a:buNone/>
            </a:pPr>
            <a:endParaRPr lang="en-US" sz="1400" dirty="0"/>
          </a:p>
          <a:p>
            <a:pPr marL="0" indent="0" algn="l">
              <a:spcAft>
                <a:spcPts val="300"/>
              </a:spcAft>
              <a:buNone/>
            </a:pPr>
            <a:r>
              <a:rPr lang="en-US" sz="1100" dirty="0">
                <a:solidFill>
                  <a:schemeClr val="tx1"/>
                </a:solidFill>
              </a:rPr>
              <a:t>Capture knowledge while solving, in the customer's words; reuse is what validates it</a:t>
            </a:r>
            <a:endParaRPr lang="en-US" sz="1400" dirty="0"/>
          </a:p>
        </p:txBody>
      </p:sp>
      <p:sp>
        <p:nvSpPr>
          <p:cNvPr id="7" name="Shape 5"/>
          <p:cNvSpPr/>
          <p:nvPr/>
        </p:nvSpPr>
        <p:spPr>
          <a:xfrm>
            <a:off x="6035040" y="1143000"/>
            <a:ext cx="2606040" cy="1645920"/>
          </a:xfrm>
          <a:prstGeom prst="roundRect">
            <a:avLst>
              <a:gd name="adj" fmla="val 4444"/>
            </a:avLst>
          </a:prstGeom>
          <a:solidFill>
            <a:schemeClr val="bg2"/>
          </a:solidFill>
          <a:ln/>
        </p:spPr>
      </p:sp>
      <p:sp>
        <p:nvSpPr>
          <p:cNvPr id="8" name="Text 6"/>
          <p:cNvSpPr txBox="1"/>
          <p:nvPr/>
        </p:nvSpPr>
        <p:spPr>
          <a:xfrm>
            <a:off x="6144768" y="1216152"/>
            <a:ext cx="2386584" cy="149961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ITIL</a:t>
            </a:r>
            <a:endParaRPr lang="en-US" sz="1400" dirty="0"/>
          </a:p>
          <a:p>
            <a:pPr marL="0" indent="0" algn="l">
              <a:spcAft>
                <a:spcPts val="300"/>
              </a:spcAft>
              <a:buNone/>
            </a:pPr>
            <a:r>
              <a:rPr lang="en-US" sz="1100" dirty="0">
                <a:solidFill>
                  <a:schemeClr val="tx1"/>
                </a:solidFill>
              </a:rPr>
              <a:t>Incident, problem, known error</a:t>
            </a:r>
            <a:endParaRPr lang="en-US" sz="1400" dirty="0"/>
          </a:p>
          <a:p>
            <a:pPr marL="0" indent="0" algn="l">
              <a:spcAft>
                <a:spcPts val="300"/>
              </a:spcAft>
              <a:buNone/>
            </a:pPr>
            <a:endParaRPr lang="en-US" sz="1400" dirty="0"/>
          </a:p>
          <a:p>
            <a:pPr marL="0" indent="0" algn="l">
              <a:spcAft>
                <a:spcPts val="300"/>
              </a:spcAft>
              <a:buNone/>
            </a:pPr>
            <a:r>
              <a:rPr lang="en-US" sz="1100" dirty="0">
                <a:solidFill>
                  <a:schemeClr val="tx1"/>
                </a:solidFill>
              </a:rPr>
              <a:t>Many cases with one root cause should become one problem record</a:t>
            </a:r>
            <a:endParaRPr lang="en-US" sz="1400" dirty="0"/>
          </a:p>
        </p:txBody>
      </p:sp>
      <p:sp>
        <p:nvSpPr>
          <p:cNvPr id="9" name="Shape 7"/>
          <p:cNvSpPr/>
          <p:nvPr/>
        </p:nvSpPr>
        <p:spPr>
          <a:xfrm>
            <a:off x="457200" y="2926080"/>
            <a:ext cx="2606040" cy="1645920"/>
          </a:xfrm>
          <a:prstGeom prst="roundRect">
            <a:avLst>
              <a:gd name="adj" fmla="val 4444"/>
            </a:avLst>
          </a:prstGeom>
          <a:solidFill>
            <a:schemeClr val="bg2"/>
          </a:solidFill>
          <a:ln/>
        </p:spPr>
      </p:sp>
      <p:sp>
        <p:nvSpPr>
          <p:cNvPr id="10" name="Text 8"/>
          <p:cNvSpPr txBox="1"/>
          <p:nvPr/>
        </p:nvSpPr>
        <p:spPr>
          <a:xfrm>
            <a:off x="566928" y="2999232"/>
            <a:ext cx="2386584" cy="149961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Case-based reasoning</a:t>
            </a:r>
            <a:endParaRPr lang="en-US" sz="1400" dirty="0"/>
          </a:p>
          <a:p>
            <a:pPr marL="0" indent="0" algn="l">
              <a:spcAft>
                <a:spcPts val="300"/>
              </a:spcAft>
              <a:buNone/>
            </a:pPr>
            <a:r>
              <a:rPr lang="en-US" sz="1100" dirty="0">
                <a:solidFill>
                  <a:schemeClr val="tx1"/>
                </a:solidFill>
              </a:rPr>
              <a:t>Retrieve, reuse, revise, retain</a:t>
            </a:r>
            <a:endParaRPr lang="en-US" sz="1400" dirty="0"/>
          </a:p>
          <a:p>
            <a:pPr marL="0" indent="0" algn="l">
              <a:spcAft>
                <a:spcPts val="300"/>
              </a:spcAft>
              <a:buNone/>
            </a:pPr>
            <a:endParaRPr lang="en-US" sz="1400" dirty="0"/>
          </a:p>
          <a:p>
            <a:pPr marL="0" indent="0" algn="l">
              <a:spcAft>
                <a:spcPts val="300"/>
              </a:spcAft>
              <a:buNone/>
            </a:pPr>
            <a:r>
              <a:rPr lang="en-US" sz="1100" dirty="0">
                <a:solidFill>
                  <a:schemeClr val="tx1"/>
                </a:solidFill>
              </a:rPr>
              <a:t>The loop the platform follows: find, adapt, check, store</a:t>
            </a:r>
            <a:endParaRPr lang="en-US" sz="1400" dirty="0"/>
          </a:p>
        </p:txBody>
      </p:sp>
      <p:sp>
        <p:nvSpPr>
          <p:cNvPr id="11" name="Shape 9"/>
          <p:cNvSpPr/>
          <p:nvPr/>
        </p:nvSpPr>
        <p:spPr>
          <a:xfrm>
            <a:off x="3246120" y="2926080"/>
            <a:ext cx="2606040" cy="1645920"/>
          </a:xfrm>
          <a:prstGeom prst="roundRect">
            <a:avLst>
              <a:gd name="adj" fmla="val 4444"/>
            </a:avLst>
          </a:prstGeom>
          <a:solidFill>
            <a:schemeClr val="bg2"/>
          </a:solidFill>
          <a:ln/>
        </p:spPr>
      </p:sp>
      <p:sp>
        <p:nvSpPr>
          <p:cNvPr id="12" name="Text 10"/>
          <p:cNvSpPr txBox="1"/>
          <p:nvPr/>
        </p:nvSpPr>
        <p:spPr>
          <a:xfrm>
            <a:off x="3355848" y="2999232"/>
            <a:ext cx="2386584" cy="149961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Search and RAG</a:t>
            </a:r>
            <a:endParaRPr lang="en-US" sz="1400" dirty="0"/>
          </a:p>
          <a:p>
            <a:pPr marL="0" indent="0" algn="l">
              <a:spcAft>
                <a:spcPts val="300"/>
              </a:spcAft>
              <a:buNone/>
            </a:pPr>
            <a:r>
              <a:rPr lang="en-US" sz="1100" dirty="0">
                <a:solidFill>
                  <a:schemeClr val="tx1"/>
                </a:solidFill>
              </a:rPr>
              <a:t>Vector, full text, error codes, rank fusion</a:t>
            </a:r>
            <a:endParaRPr lang="en-US" sz="1400" dirty="0"/>
          </a:p>
          <a:p>
            <a:pPr marL="0" indent="0" algn="l">
              <a:spcAft>
                <a:spcPts val="300"/>
              </a:spcAft>
              <a:buNone/>
            </a:pPr>
            <a:endParaRPr lang="en-US" sz="1400" dirty="0"/>
          </a:p>
          <a:p>
            <a:pPr marL="0" indent="0" algn="l">
              <a:spcAft>
                <a:spcPts val="300"/>
              </a:spcAft>
              <a:buNone/>
            </a:pPr>
            <a:r>
              <a:rPr lang="en-US" sz="1100" dirty="0">
                <a:solidFill>
                  <a:schemeClr val="tx1"/>
                </a:solidFill>
              </a:rPr>
              <a:t>Embeddings alone miss codes like WF-COND-301, so combine them</a:t>
            </a:r>
            <a:endParaRPr lang="en-US" sz="1400" dirty="0"/>
          </a:p>
        </p:txBody>
      </p:sp>
      <p:sp>
        <p:nvSpPr>
          <p:cNvPr id="13" name="Shape 11"/>
          <p:cNvSpPr/>
          <p:nvPr/>
        </p:nvSpPr>
        <p:spPr>
          <a:xfrm>
            <a:off x="6035040" y="2926080"/>
            <a:ext cx="2606040" cy="1645920"/>
          </a:xfrm>
          <a:prstGeom prst="roundRect">
            <a:avLst>
              <a:gd name="adj" fmla="val 4444"/>
            </a:avLst>
          </a:prstGeom>
          <a:solidFill>
            <a:schemeClr val="bg2"/>
          </a:solidFill>
          <a:ln/>
        </p:spPr>
      </p:sp>
      <p:sp>
        <p:nvSpPr>
          <p:cNvPr id="14" name="Text 12"/>
          <p:cNvSpPr txBox="1"/>
          <p:nvPr/>
        </p:nvSpPr>
        <p:spPr>
          <a:xfrm>
            <a:off x="6144768" y="2999232"/>
            <a:ext cx="2386584" cy="149961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Agent architectures</a:t>
            </a:r>
            <a:endParaRPr lang="en-US" sz="1400" dirty="0"/>
          </a:p>
          <a:p>
            <a:pPr marL="0" indent="0" algn="l">
              <a:spcAft>
                <a:spcPts val="300"/>
              </a:spcAft>
              <a:buNone/>
            </a:pPr>
            <a:r>
              <a:rPr lang="en-US" sz="1100" dirty="0">
                <a:solidFill>
                  <a:schemeClr val="tx1"/>
                </a:solidFill>
              </a:rPr>
              <a:t>Workflows vs agents, ReAct, tool use</a:t>
            </a:r>
            <a:endParaRPr lang="en-US" sz="1400" dirty="0"/>
          </a:p>
          <a:p>
            <a:pPr marL="0" indent="0" algn="l">
              <a:spcAft>
                <a:spcPts val="300"/>
              </a:spcAft>
              <a:buNone/>
            </a:pPr>
            <a:endParaRPr lang="en-US" sz="1400" dirty="0"/>
          </a:p>
          <a:p>
            <a:pPr marL="0" indent="0" algn="l">
              <a:spcAft>
                <a:spcPts val="300"/>
              </a:spcAft>
              <a:buNone/>
            </a:pPr>
            <a:r>
              <a:rPr lang="en-US" sz="1100" dirty="0">
                <a:solidFill>
                  <a:schemeClr val="tx1"/>
                </a:solidFill>
              </a:rPr>
              <a:t>Fixed steps where the path is known, an agent only where it must explore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rPr>
              <a:t>What I designed: a closed knowledge loop</a:t>
            </a:r>
            <a:endParaRPr lang="en-US" sz="2800" dirty="0"/>
          </a:p>
        </p:txBody>
      </p:sp>
      <p:sp>
        <p:nvSpPr>
          <p:cNvPr id="3" name="Shape 1"/>
          <p:cNvSpPr/>
          <p:nvPr/>
        </p:nvSpPr>
        <p:spPr>
          <a:xfrm>
            <a:off x="457200" y="1417320"/>
            <a:ext cx="1069848" cy="1417320"/>
          </a:xfrm>
          <a:prstGeom prst="roundRect">
            <a:avLst>
              <a:gd name="adj" fmla="val 6838"/>
            </a:avLst>
          </a:prstGeom>
          <a:solidFill>
            <a:schemeClr val="bg2"/>
          </a:solidFill>
          <a:ln/>
        </p:spPr>
      </p:sp>
      <p:sp>
        <p:nvSpPr>
          <p:cNvPr id="4" name="Text 2"/>
          <p:cNvSpPr txBox="1"/>
          <p:nvPr/>
        </p:nvSpPr>
        <p:spPr>
          <a:xfrm>
            <a:off x="566928" y="1490472"/>
            <a:ext cx="850392" cy="1271016"/>
          </a:xfrm>
          <a:prstGeom prst="rect">
            <a:avLst/>
          </a:prstGeom>
          <a:noFill/>
          <a:ln/>
        </p:spPr>
        <p:txBody>
          <a:bodyPr wrap="square" lIns="0" tIns="0" rIns="0" bIns="0" rtlCol="0" anchor="t"/>
          <a:lstStyle/>
          <a:p>
            <a:pPr marL="0" indent="0" algn="l">
              <a:spcAft>
                <a:spcPts val="300"/>
              </a:spcAft>
              <a:buNone/>
            </a:pPr>
            <a:r>
              <a:rPr lang="en-US" sz="1200" b="1" dirty="0">
                <a:solidFill>
                  <a:schemeClr val="tx2"/>
                </a:solidFill>
              </a:rPr>
              <a:t>New case</a:t>
            </a:r>
            <a:endParaRPr lang="en-US" sz="1200" dirty="0"/>
          </a:p>
          <a:p>
            <a:pPr marL="0" indent="0" algn="l">
              <a:spcAft>
                <a:spcPts val="300"/>
              </a:spcAft>
              <a:buNone/>
            </a:pPr>
            <a:r>
              <a:rPr lang="en-US" sz="1000" dirty="0">
                <a:solidFill>
                  <a:schemeClr val="tx1"/>
                </a:solidFill>
              </a:rPr>
              <a:t>Customer text in Directus</a:t>
            </a:r>
            <a:endParaRPr lang="en-US" sz="1200" dirty="0"/>
          </a:p>
        </p:txBody>
      </p:sp>
      <p:sp>
        <p:nvSpPr>
          <p:cNvPr id="5" name="Shape 3"/>
          <p:cNvSpPr/>
          <p:nvPr/>
        </p:nvSpPr>
        <p:spPr>
          <a:xfrm>
            <a:off x="1527048" y="2121408"/>
            <a:ext cx="109728" cy="0"/>
          </a:xfrm>
          <a:prstGeom prst="line">
            <a:avLst/>
          </a:prstGeom>
          <a:noFill/>
          <a:ln w="19050">
            <a:solidFill>
              <a:schemeClr val="accent6"/>
            </a:solidFill>
            <a:prstDash val="solid"/>
            <a:tailEnd type="triangle"/>
          </a:ln>
        </p:spPr>
      </p:sp>
      <p:sp>
        <p:nvSpPr>
          <p:cNvPr id="6" name="Shape 4"/>
          <p:cNvSpPr/>
          <p:nvPr/>
        </p:nvSpPr>
        <p:spPr>
          <a:xfrm>
            <a:off x="1636776" y="1417320"/>
            <a:ext cx="1069848" cy="1417320"/>
          </a:xfrm>
          <a:prstGeom prst="roundRect">
            <a:avLst>
              <a:gd name="adj" fmla="val 6838"/>
            </a:avLst>
          </a:prstGeom>
          <a:solidFill>
            <a:schemeClr val="bg2"/>
          </a:solidFill>
          <a:ln/>
        </p:spPr>
      </p:sp>
      <p:sp>
        <p:nvSpPr>
          <p:cNvPr id="7" name="Text 5"/>
          <p:cNvSpPr txBox="1"/>
          <p:nvPr/>
        </p:nvSpPr>
        <p:spPr>
          <a:xfrm>
            <a:off x="1746504" y="1490472"/>
            <a:ext cx="850392" cy="1271016"/>
          </a:xfrm>
          <a:prstGeom prst="rect">
            <a:avLst/>
          </a:prstGeom>
          <a:noFill/>
          <a:ln/>
        </p:spPr>
        <p:txBody>
          <a:bodyPr wrap="square" lIns="0" tIns="0" rIns="0" bIns="0" rtlCol="0" anchor="t"/>
          <a:lstStyle/>
          <a:p>
            <a:pPr marL="0" indent="0" algn="l">
              <a:spcAft>
                <a:spcPts val="300"/>
              </a:spcAft>
              <a:buNone/>
            </a:pPr>
            <a:r>
              <a:rPr lang="en-US" sz="1200" b="1" dirty="0">
                <a:solidFill>
                  <a:schemeClr val="tx2"/>
                </a:solidFill>
              </a:rPr>
              <a:t>Analysis</a:t>
            </a:r>
            <a:endParaRPr lang="en-US" sz="1200" dirty="0"/>
          </a:p>
          <a:p>
            <a:pPr marL="0" indent="0" algn="l">
              <a:spcAft>
                <a:spcPts val="300"/>
              </a:spcAft>
              <a:buNone/>
            </a:pPr>
            <a:r>
              <a:rPr lang="en-US" sz="1000" dirty="0">
                <a:solidFill>
                  <a:schemeClr val="tx1"/>
                </a:solidFill>
              </a:rPr>
              <a:t>AI structures the case</a:t>
            </a:r>
            <a:endParaRPr lang="en-US" sz="1200" dirty="0"/>
          </a:p>
        </p:txBody>
      </p:sp>
      <p:sp>
        <p:nvSpPr>
          <p:cNvPr id="8" name="Shape 6"/>
          <p:cNvSpPr/>
          <p:nvPr/>
        </p:nvSpPr>
        <p:spPr>
          <a:xfrm>
            <a:off x="2706624" y="2121408"/>
            <a:ext cx="109728" cy="0"/>
          </a:xfrm>
          <a:prstGeom prst="line">
            <a:avLst/>
          </a:prstGeom>
          <a:noFill/>
          <a:ln w="19050">
            <a:solidFill>
              <a:schemeClr val="accent6"/>
            </a:solidFill>
            <a:prstDash val="solid"/>
            <a:tailEnd type="triangle"/>
          </a:ln>
        </p:spPr>
      </p:sp>
      <p:sp>
        <p:nvSpPr>
          <p:cNvPr id="9" name="Shape 7"/>
          <p:cNvSpPr/>
          <p:nvPr/>
        </p:nvSpPr>
        <p:spPr>
          <a:xfrm>
            <a:off x="2816352" y="1417320"/>
            <a:ext cx="1069848" cy="1417320"/>
          </a:xfrm>
          <a:prstGeom prst="roundRect">
            <a:avLst>
              <a:gd name="adj" fmla="val 6838"/>
            </a:avLst>
          </a:prstGeom>
          <a:solidFill>
            <a:schemeClr val="bg2"/>
          </a:solidFill>
          <a:ln/>
        </p:spPr>
      </p:sp>
      <p:sp>
        <p:nvSpPr>
          <p:cNvPr id="10" name="Text 8"/>
          <p:cNvSpPr txBox="1"/>
          <p:nvPr/>
        </p:nvSpPr>
        <p:spPr>
          <a:xfrm>
            <a:off x="2926080" y="1490472"/>
            <a:ext cx="850392" cy="1271016"/>
          </a:xfrm>
          <a:prstGeom prst="rect">
            <a:avLst/>
          </a:prstGeom>
          <a:noFill/>
          <a:ln/>
        </p:spPr>
        <p:txBody>
          <a:bodyPr wrap="square" lIns="0" tIns="0" rIns="0" bIns="0" rtlCol="0" anchor="t"/>
          <a:lstStyle/>
          <a:p>
            <a:pPr marL="0" indent="0" algn="l">
              <a:spcAft>
                <a:spcPts val="300"/>
              </a:spcAft>
              <a:buNone/>
            </a:pPr>
            <a:r>
              <a:rPr lang="en-US" sz="1200" b="1" dirty="0">
                <a:solidFill>
                  <a:schemeClr val="tx2"/>
                </a:solidFill>
              </a:rPr>
              <a:t>Knowledge</a:t>
            </a:r>
            <a:endParaRPr lang="en-US" sz="1200" dirty="0"/>
          </a:p>
          <a:p>
            <a:pPr marL="0" indent="0" algn="l">
              <a:spcAft>
                <a:spcPts val="300"/>
              </a:spcAft>
              <a:buNone/>
            </a:pPr>
            <a:r>
              <a:rPr lang="en-US" sz="1000" dirty="0">
                <a:solidFill>
                  <a:schemeClr val="tx1"/>
                </a:solidFill>
              </a:rPr>
              <a:t>Similar cases and solutions</a:t>
            </a:r>
            <a:endParaRPr lang="en-US" sz="1200" dirty="0"/>
          </a:p>
        </p:txBody>
      </p:sp>
      <p:sp>
        <p:nvSpPr>
          <p:cNvPr id="11" name="Shape 9"/>
          <p:cNvSpPr/>
          <p:nvPr/>
        </p:nvSpPr>
        <p:spPr>
          <a:xfrm>
            <a:off x="3886200" y="2121408"/>
            <a:ext cx="109728" cy="0"/>
          </a:xfrm>
          <a:prstGeom prst="line">
            <a:avLst/>
          </a:prstGeom>
          <a:noFill/>
          <a:ln w="19050">
            <a:solidFill>
              <a:schemeClr val="accent6"/>
            </a:solidFill>
            <a:prstDash val="solid"/>
            <a:tailEnd type="triangle"/>
          </a:ln>
        </p:spPr>
      </p:sp>
      <p:sp>
        <p:nvSpPr>
          <p:cNvPr id="12" name="Shape 10"/>
          <p:cNvSpPr/>
          <p:nvPr/>
        </p:nvSpPr>
        <p:spPr>
          <a:xfrm>
            <a:off x="3995928" y="1417320"/>
            <a:ext cx="1069848" cy="1417320"/>
          </a:xfrm>
          <a:prstGeom prst="roundRect">
            <a:avLst>
              <a:gd name="adj" fmla="val 6838"/>
            </a:avLst>
          </a:prstGeom>
          <a:solidFill>
            <a:schemeClr val="bg2"/>
          </a:solidFill>
          <a:ln/>
        </p:spPr>
      </p:sp>
      <p:sp>
        <p:nvSpPr>
          <p:cNvPr id="13" name="Text 11"/>
          <p:cNvSpPr txBox="1"/>
          <p:nvPr/>
        </p:nvSpPr>
        <p:spPr>
          <a:xfrm>
            <a:off x="4105656" y="1490472"/>
            <a:ext cx="850392" cy="1271016"/>
          </a:xfrm>
          <a:prstGeom prst="rect">
            <a:avLst/>
          </a:prstGeom>
          <a:noFill/>
          <a:ln/>
        </p:spPr>
        <p:txBody>
          <a:bodyPr wrap="square" lIns="0" tIns="0" rIns="0" bIns="0" rtlCol="0" anchor="t"/>
          <a:lstStyle/>
          <a:p>
            <a:pPr marL="0" indent="0" algn="l">
              <a:spcAft>
                <a:spcPts val="300"/>
              </a:spcAft>
              <a:buNone/>
            </a:pPr>
            <a:r>
              <a:rPr lang="en-US" sz="1200" b="1" dirty="0">
                <a:solidFill>
                  <a:schemeClr val="tx2"/>
                </a:solidFill>
              </a:rPr>
              <a:t>Applicability</a:t>
            </a:r>
            <a:endParaRPr lang="en-US" sz="1200" dirty="0"/>
          </a:p>
          <a:p>
            <a:pPr marL="0" indent="0" algn="l">
              <a:spcAft>
                <a:spcPts val="300"/>
              </a:spcAft>
              <a:buNone/>
            </a:pPr>
            <a:r>
              <a:rPr lang="en-US" sz="1000" dirty="0">
                <a:solidFill>
                  <a:schemeClr val="tx1"/>
                </a:solidFill>
              </a:rPr>
              <a:t>Does it fit this version and customer?</a:t>
            </a:r>
            <a:endParaRPr lang="en-US" sz="1200" dirty="0"/>
          </a:p>
        </p:txBody>
      </p:sp>
      <p:sp>
        <p:nvSpPr>
          <p:cNvPr id="14" name="Shape 12"/>
          <p:cNvSpPr/>
          <p:nvPr/>
        </p:nvSpPr>
        <p:spPr>
          <a:xfrm>
            <a:off x="5065776" y="2121408"/>
            <a:ext cx="109728" cy="0"/>
          </a:xfrm>
          <a:prstGeom prst="line">
            <a:avLst/>
          </a:prstGeom>
          <a:noFill/>
          <a:ln w="19050">
            <a:solidFill>
              <a:schemeClr val="accent6"/>
            </a:solidFill>
            <a:prstDash val="solid"/>
            <a:tailEnd type="triangle"/>
          </a:ln>
        </p:spPr>
      </p:sp>
      <p:sp>
        <p:nvSpPr>
          <p:cNvPr id="15" name="Shape 13"/>
          <p:cNvSpPr/>
          <p:nvPr/>
        </p:nvSpPr>
        <p:spPr>
          <a:xfrm>
            <a:off x="5175504" y="1417320"/>
            <a:ext cx="1069848" cy="1417320"/>
          </a:xfrm>
          <a:prstGeom prst="roundRect">
            <a:avLst>
              <a:gd name="adj" fmla="val 6838"/>
            </a:avLst>
          </a:prstGeom>
          <a:solidFill>
            <a:schemeClr val="accent2"/>
          </a:solidFill>
          <a:ln/>
        </p:spPr>
      </p:sp>
      <p:sp>
        <p:nvSpPr>
          <p:cNvPr id="16" name="Text 14"/>
          <p:cNvSpPr txBox="1"/>
          <p:nvPr/>
        </p:nvSpPr>
        <p:spPr>
          <a:xfrm>
            <a:off x="5285232" y="1490472"/>
            <a:ext cx="850392" cy="1271016"/>
          </a:xfrm>
          <a:prstGeom prst="rect">
            <a:avLst/>
          </a:prstGeom>
          <a:noFill/>
          <a:ln/>
        </p:spPr>
        <p:txBody>
          <a:bodyPr wrap="square" lIns="0" tIns="0" rIns="0" bIns="0" rtlCol="0" anchor="t"/>
          <a:lstStyle/>
          <a:p>
            <a:pPr marL="0" indent="0" algn="l">
              <a:spcAft>
                <a:spcPts val="300"/>
              </a:spcAft>
              <a:buNone/>
            </a:pPr>
            <a:r>
              <a:rPr lang="en-US" sz="1200" b="1" dirty="0">
                <a:solidFill>
                  <a:schemeClr val="tx2"/>
                </a:solidFill>
              </a:rPr>
              <a:t>Engineer</a:t>
            </a:r>
            <a:endParaRPr lang="en-US" sz="1200" dirty="0"/>
          </a:p>
          <a:p>
            <a:pPr marL="0" indent="0" algn="l">
              <a:spcAft>
                <a:spcPts val="300"/>
              </a:spcAft>
              <a:buNone/>
            </a:pPr>
            <a:r>
              <a:rPr lang="en-US" sz="1000" dirty="0">
                <a:solidFill>
                  <a:schemeClr val="tx1"/>
                </a:solidFill>
              </a:rPr>
              <a:t>Accepts, rejects, investigates</a:t>
            </a:r>
            <a:endParaRPr lang="en-US" sz="1200" dirty="0"/>
          </a:p>
        </p:txBody>
      </p:sp>
      <p:sp>
        <p:nvSpPr>
          <p:cNvPr id="17" name="Shape 15"/>
          <p:cNvSpPr/>
          <p:nvPr/>
        </p:nvSpPr>
        <p:spPr>
          <a:xfrm>
            <a:off x="6245352" y="2121408"/>
            <a:ext cx="109728" cy="0"/>
          </a:xfrm>
          <a:prstGeom prst="line">
            <a:avLst/>
          </a:prstGeom>
          <a:noFill/>
          <a:ln w="19050">
            <a:solidFill>
              <a:schemeClr val="accent6"/>
            </a:solidFill>
            <a:prstDash val="solid"/>
            <a:tailEnd type="triangle"/>
          </a:ln>
        </p:spPr>
      </p:sp>
      <p:sp>
        <p:nvSpPr>
          <p:cNvPr id="18" name="Shape 16"/>
          <p:cNvSpPr/>
          <p:nvPr/>
        </p:nvSpPr>
        <p:spPr>
          <a:xfrm>
            <a:off x="6355080" y="1417320"/>
            <a:ext cx="1069848" cy="1417320"/>
          </a:xfrm>
          <a:prstGeom prst="roundRect">
            <a:avLst>
              <a:gd name="adj" fmla="val 6838"/>
            </a:avLst>
          </a:prstGeom>
          <a:solidFill>
            <a:schemeClr val="bg2"/>
          </a:solidFill>
          <a:ln/>
        </p:spPr>
      </p:sp>
      <p:sp>
        <p:nvSpPr>
          <p:cNvPr id="19" name="Text 17"/>
          <p:cNvSpPr txBox="1"/>
          <p:nvPr/>
        </p:nvSpPr>
        <p:spPr>
          <a:xfrm>
            <a:off x="6464808" y="1490472"/>
            <a:ext cx="850392" cy="1271016"/>
          </a:xfrm>
          <a:prstGeom prst="rect">
            <a:avLst/>
          </a:prstGeom>
          <a:noFill/>
          <a:ln/>
        </p:spPr>
        <p:txBody>
          <a:bodyPr wrap="square" lIns="0" tIns="0" rIns="0" bIns="0" rtlCol="0" anchor="t"/>
          <a:lstStyle/>
          <a:p>
            <a:pPr marL="0" indent="0" algn="l">
              <a:spcAft>
                <a:spcPts val="300"/>
              </a:spcAft>
              <a:buNone/>
            </a:pPr>
            <a:r>
              <a:rPr lang="en-US" sz="1200" b="1" dirty="0">
                <a:solidFill>
                  <a:schemeClr val="tx2"/>
                </a:solidFill>
              </a:rPr>
              <a:t>Solution</a:t>
            </a:r>
            <a:endParaRPr lang="en-US" sz="1200" dirty="0"/>
          </a:p>
          <a:p>
            <a:pPr marL="0" indent="0" algn="l">
              <a:spcAft>
                <a:spcPts val="300"/>
              </a:spcAft>
              <a:buNone/>
            </a:pPr>
            <a:r>
              <a:rPr lang="en-US" sz="1000" dirty="0">
                <a:solidFill>
                  <a:schemeClr val="tx1"/>
                </a:solidFill>
              </a:rPr>
              <a:t>Case resolved, outcome recorded</a:t>
            </a:r>
            <a:endParaRPr lang="en-US" sz="1200" dirty="0"/>
          </a:p>
        </p:txBody>
      </p:sp>
      <p:sp>
        <p:nvSpPr>
          <p:cNvPr id="20" name="Shape 18"/>
          <p:cNvSpPr/>
          <p:nvPr/>
        </p:nvSpPr>
        <p:spPr>
          <a:xfrm>
            <a:off x="7424928" y="2121408"/>
            <a:ext cx="109728" cy="0"/>
          </a:xfrm>
          <a:prstGeom prst="line">
            <a:avLst/>
          </a:prstGeom>
          <a:noFill/>
          <a:ln w="19050">
            <a:solidFill>
              <a:schemeClr val="accent6"/>
            </a:solidFill>
            <a:prstDash val="solid"/>
            <a:tailEnd type="triangle"/>
          </a:ln>
        </p:spPr>
      </p:sp>
      <p:sp>
        <p:nvSpPr>
          <p:cNvPr id="21" name="Shape 19"/>
          <p:cNvSpPr/>
          <p:nvPr/>
        </p:nvSpPr>
        <p:spPr>
          <a:xfrm>
            <a:off x="7534656" y="1417320"/>
            <a:ext cx="1069848" cy="1417320"/>
          </a:xfrm>
          <a:prstGeom prst="roundRect">
            <a:avLst>
              <a:gd name="adj" fmla="val 6838"/>
            </a:avLst>
          </a:prstGeom>
          <a:solidFill>
            <a:schemeClr val="accent2"/>
          </a:solidFill>
          <a:ln/>
        </p:spPr>
      </p:sp>
      <p:sp>
        <p:nvSpPr>
          <p:cNvPr id="22" name="Text 20"/>
          <p:cNvSpPr txBox="1"/>
          <p:nvPr/>
        </p:nvSpPr>
        <p:spPr>
          <a:xfrm>
            <a:off x="7644384" y="1490472"/>
            <a:ext cx="850392" cy="1271016"/>
          </a:xfrm>
          <a:prstGeom prst="rect">
            <a:avLst/>
          </a:prstGeom>
          <a:noFill/>
          <a:ln/>
        </p:spPr>
        <p:txBody>
          <a:bodyPr wrap="square" lIns="0" tIns="0" rIns="0" bIns="0" rtlCol="0" anchor="t"/>
          <a:lstStyle/>
          <a:p>
            <a:pPr marL="0" indent="0" algn="l">
              <a:spcAft>
                <a:spcPts val="300"/>
              </a:spcAft>
              <a:buNone/>
            </a:pPr>
            <a:r>
              <a:rPr lang="en-US" sz="1200" b="1" dirty="0">
                <a:solidFill>
                  <a:schemeClr val="tx2"/>
                </a:solidFill>
              </a:rPr>
              <a:t>New knowledge</a:t>
            </a:r>
            <a:endParaRPr lang="en-US" sz="1200" dirty="0"/>
          </a:p>
          <a:p>
            <a:pPr marL="0" indent="0" algn="l">
              <a:spcAft>
                <a:spcPts val="300"/>
              </a:spcAft>
              <a:buNone/>
            </a:pPr>
            <a:r>
              <a:rPr lang="en-US" sz="1000" dirty="0">
                <a:solidFill>
                  <a:schemeClr val="tx1"/>
                </a:solidFill>
              </a:rPr>
              <a:t>Link, update or create, approved by an architect</a:t>
            </a:r>
            <a:endParaRPr lang="en-US" sz="1200" dirty="0"/>
          </a:p>
        </p:txBody>
      </p:sp>
      <p:sp>
        <p:nvSpPr>
          <p:cNvPr id="23" name="Text 21"/>
          <p:cNvSpPr txBox="1"/>
          <p:nvPr/>
        </p:nvSpPr>
        <p:spPr>
          <a:xfrm>
            <a:off x="457200" y="2926080"/>
            <a:ext cx="5486400" cy="274320"/>
          </a:xfrm>
          <a:prstGeom prst="rect">
            <a:avLst/>
          </a:prstGeom>
          <a:noFill/>
          <a:ln/>
        </p:spPr>
        <p:txBody>
          <a:bodyPr wrap="square" lIns="0" tIns="0" rIns="0" bIns="0" rtlCol="0" anchor="t"/>
          <a:lstStyle/>
          <a:p>
            <a:pPr marL="0" indent="0">
              <a:buNone/>
            </a:pPr>
            <a:endParaRPr lang="en-US" sz="1100" dirty="0"/>
          </a:p>
        </p:txBody>
      </p:sp>
      <p:sp>
        <p:nvSpPr>
          <p:cNvPr id="24" name="Shape 22"/>
          <p:cNvSpPr/>
          <p:nvPr/>
        </p:nvSpPr>
        <p:spPr>
          <a:xfrm>
            <a:off x="457200" y="3429000"/>
            <a:ext cx="3977640" cy="1143000"/>
          </a:xfrm>
          <a:prstGeom prst="roundRect">
            <a:avLst>
              <a:gd name="adj" fmla="val 6400"/>
            </a:avLst>
          </a:prstGeom>
          <a:solidFill>
            <a:schemeClr val="tx2"/>
          </a:solidFill>
          <a:ln/>
        </p:spPr>
      </p:sp>
      <p:sp>
        <p:nvSpPr>
          <p:cNvPr id="25" name="Text 23"/>
          <p:cNvSpPr txBox="1"/>
          <p:nvPr/>
        </p:nvSpPr>
        <p:spPr>
          <a:xfrm>
            <a:off x="566928" y="3502152"/>
            <a:ext cx="3758184" cy="996696"/>
          </a:xfrm>
          <a:prstGeom prst="rect">
            <a:avLst/>
          </a:prstGeom>
          <a:noFill/>
          <a:ln/>
        </p:spPr>
        <p:txBody>
          <a:bodyPr wrap="square" lIns="0" tIns="0" rIns="0" bIns="0" rtlCol="0" anchor="t"/>
          <a:lstStyle/>
          <a:p>
            <a:pPr marL="0" indent="0" algn="l">
              <a:spcAft>
                <a:spcPts val="300"/>
              </a:spcAft>
              <a:buNone/>
            </a:pPr>
            <a:r>
              <a:rPr lang="en-US" sz="1400" b="1" dirty="0">
                <a:solidFill>
                  <a:schemeClr val="accent2"/>
                </a:solidFill>
              </a:rPr>
              <a:t>The AI only suggests</a:t>
            </a:r>
            <a:endParaRPr lang="en-US" sz="1400" dirty="0"/>
          </a:p>
          <a:p>
            <a:pPr marL="0" indent="0" algn="l">
              <a:spcAft>
                <a:spcPts val="300"/>
              </a:spcAft>
              <a:buNone/>
            </a:pPr>
            <a:r>
              <a:rPr lang="en-US" sz="1200" dirty="0">
                <a:solidFill>
                  <a:schemeClr val="bg1"/>
                </a:solidFill>
              </a:rPr>
              <a:t>Agents write suggestions. Nothing changes a case or the knowledge base until an engineer accepts it.</a:t>
            </a:r>
            <a:endParaRPr lang="en-US" sz="1400" dirty="0"/>
          </a:p>
        </p:txBody>
      </p:sp>
      <p:sp>
        <p:nvSpPr>
          <p:cNvPr id="26" name="Shape 24"/>
          <p:cNvSpPr/>
          <p:nvPr/>
        </p:nvSpPr>
        <p:spPr>
          <a:xfrm>
            <a:off x="4709160" y="3429000"/>
            <a:ext cx="3977640" cy="1143000"/>
          </a:xfrm>
          <a:prstGeom prst="roundRect">
            <a:avLst>
              <a:gd name="adj" fmla="val 6400"/>
            </a:avLst>
          </a:prstGeom>
          <a:solidFill>
            <a:schemeClr val="tx2"/>
          </a:solidFill>
          <a:ln/>
        </p:spPr>
      </p:sp>
      <p:sp>
        <p:nvSpPr>
          <p:cNvPr id="27" name="Text 25"/>
          <p:cNvSpPr txBox="1"/>
          <p:nvPr/>
        </p:nvSpPr>
        <p:spPr>
          <a:xfrm>
            <a:off x="4818888" y="3502152"/>
            <a:ext cx="3758184" cy="996696"/>
          </a:xfrm>
          <a:prstGeom prst="rect">
            <a:avLst/>
          </a:prstGeom>
          <a:noFill/>
          <a:ln/>
        </p:spPr>
        <p:txBody>
          <a:bodyPr wrap="square" lIns="0" tIns="0" rIns="0" bIns="0" rtlCol="0" anchor="t"/>
          <a:lstStyle/>
          <a:p>
            <a:pPr marL="0" indent="0" algn="l">
              <a:spcAft>
                <a:spcPts val="300"/>
              </a:spcAft>
              <a:buNone/>
            </a:pPr>
            <a:r>
              <a:rPr lang="en-US" sz="1400" b="1" dirty="0">
                <a:solidFill>
                  <a:schemeClr val="accent2"/>
                </a:solidFill>
              </a:rPr>
              <a:t>Every case improves the next one</a:t>
            </a:r>
            <a:endParaRPr lang="en-US" sz="1400" dirty="0"/>
          </a:p>
          <a:p>
            <a:pPr marL="0" indent="0" algn="l">
              <a:spcAft>
                <a:spcPts val="300"/>
              </a:spcAft>
              <a:buNone/>
            </a:pPr>
            <a:r>
              <a:rPr lang="en-US" sz="1200" dirty="0">
                <a:solidFill>
                  <a:schemeClr val="bg1"/>
                </a:solidFill>
              </a:rPr>
              <a:t>Solutions keep a track record per version, so the system learns which fixes really work where.</a:t>
            </a:r>
            <a:endParaRPr lang="en-US" sz="1400" dirty="0"/>
          </a:p>
        </p:txBody>
      </p:sp>
      <p:sp>
        <p:nvSpPr>
          <p:cNvPr id="28"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rPr>
              <a:t>Why I designed it this way</a:t>
            </a:r>
            <a:endParaRPr lang="en-US" sz="2800" dirty="0"/>
          </a:p>
        </p:txBody>
      </p:sp>
      <p:sp>
        <p:nvSpPr>
          <p:cNvPr id="3" name="Shape 1"/>
          <p:cNvSpPr/>
          <p:nvPr/>
        </p:nvSpPr>
        <p:spPr>
          <a:xfrm>
            <a:off x="457200" y="1097280"/>
            <a:ext cx="4023360" cy="1115568"/>
          </a:xfrm>
          <a:prstGeom prst="roundRect">
            <a:avLst>
              <a:gd name="adj" fmla="val 6557"/>
            </a:avLst>
          </a:prstGeom>
          <a:solidFill>
            <a:schemeClr val="bg2"/>
          </a:solidFill>
          <a:ln/>
        </p:spPr>
      </p:sp>
      <p:sp>
        <p:nvSpPr>
          <p:cNvPr id="4" name="Text 2"/>
          <p:cNvSpPr txBox="1"/>
          <p:nvPr/>
        </p:nvSpPr>
        <p:spPr>
          <a:xfrm>
            <a:off x="566928" y="1170432"/>
            <a:ext cx="3803904" cy="969264"/>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Case and solution are separate</a:t>
            </a:r>
            <a:endParaRPr lang="en-US" sz="1400" dirty="0"/>
          </a:p>
          <a:p>
            <a:pPr marL="0" indent="0" algn="l">
              <a:spcAft>
                <a:spcPts val="300"/>
              </a:spcAft>
              <a:buNone/>
            </a:pPr>
            <a:r>
              <a:rPr lang="en-US" sz="1100" dirty="0">
                <a:solidFill>
                  <a:schemeClr val="tx1"/>
                </a:solidFill>
              </a:rPr>
              <a:t>A case is one customer's problem; a solution is reusable knowledge (KCS). The link stores the outcome, so a solution has a real track record.</a:t>
            </a:r>
            <a:endParaRPr lang="en-US" sz="1400" dirty="0"/>
          </a:p>
        </p:txBody>
      </p:sp>
      <p:sp>
        <p:nvSpPr>
          <p:cNvPr id="5" name="Shape 3"/>
          <p:cNvSpPr/>
          <p:nvPr/>
        </p:nvSpPr>
        <p:spPr>
          <a:xfrm>
            <a:off x="4663440" y="1097280"/>
            <a:ext cx="4023360" cy="1115568"/>
          </a:xfrm>
          <a:prstGeom prst="roundRect">
            <a:avLst>
              <a:gd name="adj" fmla="val 6557"/>
            </a:avLst>
          </a:prstGeom>
          <a:solidFill>
            <a:schemeClr val="bg2"/>
          </a:solidFill>
          <a:ln/>
        </p:spPr>
      </p:sp>
      <p:sp>
        <p:nvSpPr>
          <p:cNvPr id="6" name="Text 4"/>
          <p:cNvSpPr txBox="1"/>
          <p:nvPr/>
        </p:nvSpPr>
        <p:spPr>
          <a:xfrm>
            <a:off x="4773168" y="1170432"/>
            <a:ext cx="3803904" cy="969264"/>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Applicability, not just similarity</a:t>
            </a:r>
            <a:endParaRPr lang="en-US" sz="1400" dirty="0"/>
          </a:p>
          <a:p>
            <a:pPr marL="0" indent="0" algn="l">
              <a:spcAft>
                <a:spcPts val="300"/>
              </a:spcAft>
              <a:buNone/>
            </a:pPr>
            <a:r>
              <a:rPr lang="en-US" sz="1100" dirty="0">
                <a:solidFill>
                  <a:schemeClr val="tx1"/>
                </a:solidFill>
              </a:rPr>
              <a:t>A fix for 8.x can look identical to a 9.x problem. Version range, modules, integrations and customer history decide whether it applies.</a:t>
            </a:r>
            <a:endParaRPr lang="en-US" sz="1400" dirty="0"/>
          </a:p>
        </p:txBody>
      </p:sp>
      <p:sp>
        <p:nvSpPr>
          <p:cNvPr id="7" name="Shape 5"/>
          <p:cNvSpPr/>
          <p:nvPr/>
        </p:nvSpPr>
        <p:spPr>
          <a:xfrm>
            <a:off x="457200" y="2331720"/>
            <a:ext cx="4023360" cy="1115568"/>
          </a:xfrm>
          <a:prstGeom prst="roundRect">
            <a:avLst>
              <a:gd name="adj" fmla="val 6557"/>
            </a:avLst>
          </a:prstGeom>
          <a:solidFill>
            <a:schemeClr val="bg2"/>
          </a:solidFill>
          <a:ln/>
        </p:spPr>
      </p:sp>
      <p:sp>
        <p:nvSpPr>
          <p:cNvPr id="8" name="Text 6"/>
          <p:cNvSpPr txBox="1"/>
          <p:nvPr/>
        </p:nvSpPr>
        <p:spPr>
          <a:xfrm>
            <a:off x="566928" y="2404872"/>
            <a:ext cx="3803904" cy="969264"/>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Upgrades are first-class</a:t>
            </a:r>
            <a:endParaRPr lang="en-US" sz="1400" dirty="0"/>
          </a:p>
          <a:p>
            <a:pPr marL="0" indent="0" algn="l">
              <a:spcAft>
                <a:spcPts val="300"/>
              </a:spcAft>
              <a:buNone/>
            </a:pPr>
            <a:r>
              <a:rPr lang="en-US" sz="1100" dirty="0">
                <a:solidFill>
                  <a:schemeClr val="tx1"/>
                </a:solidFill>
              </a:rPr>
              <a:t>"After an update" is a common trigger, so release notes are data and the agent searches the changes between versions.</a:t>
            </a:r>
            <a:endParaRPr lang="en-US" sz="1400" dirty="0"/>
          </a:p>
        </p:txBody>
      </p:sp>
      <p:sp>
        <p:nvSpPr>
          <p:cNvPr id="9" name="Shape 7"/>
          <p:cNvSpPr/>
          <p:nvPr/>
        </p:nvSpPr>
        <p:spPr>
          <a:xfrm>
            <a:off x="4663440" y="2331720"/>
            <a:ext cx="4023360" cy="1115568"/>
          </a:xfrm>
          <a:prstGeom prst="roundRect">
            <a:avLst>
              <a:gd name="adj" fmla="val 6557"/>
            </a:avLst>
          </a:prstGeom>
          <a:solidFill>
            <a:schemeClr val="bg2"/>
          </a:solidFill>
          <a:ln/>
        </p:spPr>
      </p:sp>
      <p:sp>
        <p:nvSpPr>
          <p:cNvPr id="10" name="Text 8"/>
          <p:cNvSpPr txBox="1"/>
          <p:nvPr/>
        </p:nvSpPr>
        <p:spPr>
          <a:xfrm>
            <a:off x="4773168" y="2404872"/>
            <a:ext cx="3803904" cy="969264"/>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Workflow with one agent inside</a:t>
            </a:r>
            <a:endParaRPr lang="en-US" sz="1400" dirty="0"/>
          </a:p>
          <a:p>
            <a:pPr marL="0" indent="0" algn="l">
              <a:spcAft>
                <a:spcPts val="300"/>
              </a:spcAft>
              <a:buNone/>
            </a:pPr>
            <a:r>
              <a:rPr lang="en-US" sz="1100" dirty="0">
                <a:solidFill>
                  <a:schemeClr val="tx1"/>
                </a:solidFill>
              </a:rPr>
              <a:t>Fixed, testable steps; only retrieval is a tool-using agent. Cheaper, more predictable, easier to explain.</a:t>
            </a:r>
            <a:endParaRPr lang="en-US" sz="1400" dirty="0"/>
          </a:p>
        </p:txBody>
      </p:sp>
      <p:sp>
        <p:nvSpPr>
          <p:cNvPr id="11" name="Shape 9"/>
          <p:cNvSpPr/>
          <p:nvPr/>
        </p:nvSpPr>
        <p:spPr>
          <a:xfrm>
            <a:off x="457200" y="3566160"/>
            <a:ext cx="4023360" cy="1115568"/>
          </a:xfrm>
          <a:prstGeom prst="roundRect">
            <a:avLst>
              <a:gd name="adj" fmla="val 6557"/>
            </a:avLst>
          </a:prstGeom>
          <a:solidFill>
            <a:schemeClr val="bg2"/>
          </a:solidFill>
          <a:ln/>
        </p:spPr>
      </p:sp>
      <p:sp>
        <p:nvSpPr>
          <p:cNvPr id="12" name="Text 10"/>
          <p:cNvSpPr txBox="1"/>
          <p:nvPr/>
        </p:nvSpPr>
        <p:spPr>
          <a:xfrm>
            <a:off x="566928" y="3639312"/>
            <a:ext cx="3803904" cy="969264"/>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Directus as the platform</a:t>
            </a:r>
            <a:endParaRPr lang="en-US" sz="1400" dirty="0"/>
          </a:p>
          <a:p>
            <a:pPr marL="0" indent="0" algn="l">
              <a:spcAft>
                <a:spcPts val="300"/>
              </a:spcAft>
              <a:buNone/>
            </a:pPr>
            <a:r>
              <a:rPr lang="en-US" sz="1100" dirty="0">
                <a:solidFill>
                  <a:schemeClr val="tx1"/>
                </a:solidFill>
              </a:rPr>
              <a:t>Data studio, API, roles, Flows and dashboards for free, on our own Postgres schema. The custom part is only the workspace.</a:t>
            </a:r>
            <a:endParaRPr lang="en-US" sz="1400" dirty="0"/>
          </a:p>
        </p:txBody>
      </p:sp>
      <p:sp>
        <p:nvSpPr>
          <p:cNvPr id="13" name="Shape 11"/>
          <p:cNvSpPr/>
          <p:nvPr/>
        </p:nvSpPr>
        <p:spPr>
          <a:xfrm>
            <a:off x="4663440" y="3566160"/>
            <a:ext cx="4023360" cy="1115568"/>
          </a:xfrm>
          <a:prstGeom prst="roundRect">
            <a:avLst>
              <a:gd name="adj" fmla="val 6557"/>
            </a:avLst>
          </a:prstGeom>
          <a:solidFill>
            <a:schemeClr val="bg2"/>
          </a:solidFill>
          <a:ln/>
        </p:spPr>
      </p:sp>
      <p:sp>
        <p:nvSpPr>
          <p:cNvPr id="14" name="Text 12"/>
          <p:cNvSpPr txBox="1"/>
          <p:nvPr/>
        </p:nvSpPr>
        <p:spPr>
          <a:xfrm>
            <a:off x="4773168" y="3639312"/>
            <a:ext cx="3803904" cy="969264"/>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People approve, permissions enforce</a:t>
            </a:r>
            <a:endParaRPr lang="en-US" sz="1400" dirty="0"/>
          </a:p>
          <a:p>
            <a:pPr marL="0" indent="0" algn="l">
              <a:spcAft>
                <a:spcPts val="300"/>
              </a:spcAft>
              <a:buNone/>
            </a:pPr>
            <a:r>
              <a:rPr lang="en-US" sz="1100" dirty="0">
                <a:solidFill>
                  <a:schemeClr val="tx1"/>
                </a:solidFill>
              </a:rPr>
              <a:t>The agent has its own restricted role. Approvals run with the user's permissions, so only architects publish knowledge.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rPr>
              <a:t>Architecture</a:t>
            </a:r>
            <a:endParaRPr lang="en-US" sz="2800" dirty="0"/>
          </a:p>
        </p:txBody>
      </p:sp>
      <p:sp>
        <p:nvSpPr>
          <p:cNvPr id="3" name="Shape 1"/>
          <p:cNvSpPr/>
          <p:nvPr/>
        </p:nvSpPr>
        <p:spPr>
          <a:xfrm>
            <a:off x="457200" y="1737360"/>
            <a:ext cx="2011680" cy="1097280"/>
          </a:xfrm>
          <a:prstGeom prst="roundRect">
            <a:avLst>
              <a:gd name="adj" fmla="val 6667"/>
            </a:avLst>
          </a:prstGeom>
          <a:solidFill>
            <a:schemeClr val="bg2"/>
          </a:solidFill>
          <a:ln/>
        </p:spPr>
      </p:sp>
      <p:sp>
        <p:nvSpPr>
          <p:cNvPr id="4" name="Text 2"/>
          <p:cNvSpPr txBox="1"/>
          <p:nvPr/>
        </p:nvSpPr>
        <p:spPr>
          <a:xfrm>
            <a:off x="566928" y="1810512"/>
            <a:ext cx="1792224" cy="950976"/>
          </a:xfrm>
          <a:prstGeom prst="rect">
            <a:avLst/>
          </a:prstGeom>
          <a:noFill/>
          <a:ln/>
        </p:spPr>
        <p:txBody>
          <a:bodyPr wrap="square" lIns="0" tIns="0" rIns="0" bIns="0" rtlCol="0" anchor="ctr"/>
          <a:lstStyle/>
          <a:p>
            <a:pPr marL="0" indent="0" algn="l">
              <a:spcAft>
                <a:spcPts val="300"/>
              </a:spcAft>
              <a:buNone/>
            </a:pPr>
            <a:r>
              <a:rPr lang="en-US" sz="1400" b="1" dirty="0">
                <a:solidFill>
                  <a:schemeClr val="tx2"/>
                </a:solidFill>
              </a:rPr>
              <a:t>Engineer / Architect</a:t>
            </a:r>
            <a:endParaRPr lang="en-US" sz="1400" dirty="0"/>
          </a:p>
          <a:p>
            <a:pPr marL="0" indent="0" algn="l">
              <a:spcAft>
                <a:spcPts val="300"/>
              </a:spcAft>
              <a:buNone/>
            </a:pPr>
            <a:r>
              <a:rPr lang="en-US" sz="1100" dirty="0">
                <a:solidFill>
                  <a:schemeClr val="tx1"/>
                </a:solidFill>
              </a:rPr>
              <a:t>Browser</a:t>
            </a:r>
            <a:endParaRPr lang="en-US" sz="1400" dirty="0"/>
          </a:p>
        </p:txBody>
      </p:sp>
      <p:sp>
        <p:nvSpPr>
          <p:cNvPr id="5" name="Shape 3"/>
          <p:cNvSpPr/>
          <p:nvPr/>
        </p:nvSpPr>
        <p:spPr>
          <a:xfrm>
            <a:off x="2926080" y="1097280"/>
            <a:ext cx="2743200" cy="2377440"/>
          </a:xfrm>
          <a:prstGeom prst="roundRect">
            <a:avLst>
              <a:gd name="adj" fmla="val 3077"/>
            </a:avLst>
          </a:prstGeom>
          <a:solidFill>
            <a:schemeClr val="bg2"/>
          </a:solidFill>
          <a:ln w="12700">
            <a:solidFill>
              <a:schemeClr val="accent3"/>
            </a:solidFill>
            <a:prstDash val="solid"/>
          </a:ln>
        </p:spPr>
      </p:sp>
      <p:sp>
        <p:nvSpPr>
          <p:cNvPr id="6" name="Text 4"/>
          <p:cNvSpPr txBox="1"/>
          <p:nvPr/>
        </p:nvSpPr>
        <p:spPr>
          <a:xfrm>
            <a:off x="3063240" y="1170432"/>
            <a:ext cx="2468880" cy="274320"/>
          </a:xfrm>
          <a:prstGeom prst="rect">
            <a:avLst/>
          </a:prstGeom>
          <a:noFill/>
          <a:ln/>
        </p:spPr>
        <p:txBody>
          <a:bodyPr wrap="square" lIns="0" tIns="0" rIns="0" bIns="0" rtlCol="0" anchor="t"/>
          <a:lstStyle/>
          <a:p>
            <a:pPr marL="0" indent="0">
              <a:buNone/>
            </a:pPr>
            <a:r>
              <a:rPr lang="en-US" sz="1400" b="1" dirty="0">
                <a:solidFill>
                  <a:schemeClr val="tx2"/>
                </a:solidFill>
              </a:rPr>
              <a:t>Directus 11</a:t>
            </a:r>
            <a:endParaRPr lang="en-US" sz="1300" dirty="0"/>
          </a:p>
        </p:txBody>
      </p:sp>
      <p:sp>
        <p:nvSpPr>
          <p:cNvPr id="7" name="Shape 5"/>
          <p:cNvSpPr/>
          <p:nvPr/>
        </p:nvSpPr>
        <p:spPr>
          <a:xfrm>
            <a:off x="3063240" y="1508760"/>
            <a:ext cx="2468880" cy="457200"/>
          </a:xfrm>
          <a:prstGeom prst="roundRect">
            <a:avLst>
              <a:gd name="adj" fmla="val 16000"/>
            </a:avLst>
          </a:prstGeom>
          <a:solidFill>
            <a:schemeClr val="bg1"/>
          </a:solidFill>
          <a:ln/>
        </p:spPr>
      </p:sp>
      <p:sp>
        <p:nvSpPr>
          <p:cNvPr id="8" name="Text 6"/>
          <p:cNvSpPr txBox="1"/>
          <p:nvPr/>
        </p:nvSpPr>
        <p:spPr>
          <a:xfrm>
            <a:off x="3172968" y="1581912"/>
            <a:ext cx="2249424" cy="310896"/>
          </a:xfrm>
          <a:prstGeom prst="rect">
            <a:avLst/>
          </a:prstGeom>
          <a:noFill/>
          <a:ln/>
        </p:spPr>
        <p:txBody>
          <a:bodyPr wrap="square" lIns="0" tIns="0" rIns="0" bIns="0" rtlCol="0" anchor="ctr"/>
          <a:lstStyle/>
          <a:p>
            <a:pPr marL="0" indent="0" algn="l">
              <a:spcAft>
                <a:spcPts val="300"/>
              </a:spcAft>
              <a:buNone/>
            </a:pPr>
            <a:r>
              <a:rPr lang="en-US" sz="1100" b="1" dirty="0">
                <a:solidFill>
                  <a:schemeClr val="tx2"/>
                </a:solidFill>
              </a:rPr>
              <a:t>Engineer Workspace (Vue module)</a:t>
            </a:r>
            <a:endParaRPr lang="en-US" sz="1100" dirty="0"/>
          </a:p>
        </p:txBody>
      </p:sp>
      <p:sp>
        <p:nvSpPr>
          <p:cNvPr id="9" name="Shape 7"/>
          <p:cNvSpPr/>
          <p:nvPr/>
        </p:nvSpPr>
        <p:spPr>
          <a:xfrm>
            <a:off x="3063240" y="2057400"/>
            <a:ext cx="2468880" cy="457200"/>
          </a:xfrm>
          <a:prstGeom prst="roundRect">
            <a:avLst>
              <a:gd name="adj" fmla="val 16000"/>
            </a:avLst>
          </a:prstGeom>
          <a:solidFill>
            <a:schemeClr val="bg1"/>
          </a:solidFill>
          <a:ln/>
        </p:spPr>
      </p:sp>
      <p:sp>
        <p:nvSpPr>
          <p:cNvPr id="10" name="Text 8"/>
          <p:cNvSpPr txBox="1"/>
          <p:nvPr/>
        </p:nvSpPr>
        <p:spPr>
          <a:xfrm>
            <a:off x="3172968" y="2130552"/>
            <a:ext cx="2249424" cy="310896"/>
          </a:xfrm>
          <a:prstGeom prst="rect">
            <a:avLst/>
          </a:prstGeom>
          <a:noFill/>
          <a:ln/>
        </p:spPr>
        <p:txBody>
          <a:bodyPr wrap="square" lIns="0" tIns="0" rIns="0" bIns="0" rtlCol="0" anchor="ctr"/>
          <a:lstStyle/>
          <a:p>
            <a:pPr marL="0" indent="0" algn="l">
              <a:spcAft>
                <a:spcPts val="300"/>
              </a:spcAft>
              <a:buNone/>
            </a:pPr>
            <a:r>
              <a:rPr lang="en-US" sz="1100" b="1" dirty="0">
                <a:solidFill>
                  <a:schemeClr val="tx2"/>
                </a:solidFill>
              </a:rPr>
              <a:t>/sep endpoint: proxy + approvals</a:t>
            </a:r>
            <a:endParaRPr lang="en-US" sz="1100" dirty="0"/>
          </a:p>
        </p:txBody>
      </p:sp>
      <p:sp>
        <p:nvSpPr>
          <p:cNvPr id="11" name="Shape 9"/>
          <p:cNvSpPr/>
          <p:nvPr/>
        </p:nvSpPr>
        <p:spPr>
          <a:xfrm>
            <a:off x="3063240" y="2606040"/>
            <a:ext cx="2468880" cy="457200"/>
          </a:xfrm>
          <a:prstGeom prst="roundRect">
            <a:avLst>
              <a:gd name="adj" fmla="val 16000"/>
            </a:avLst>
          </a:prstGeom>
          <a:solidFill>
            <a:schemeClr val="bg1"/>
          </a:solidFill>
          <a:ln/>
        </p:spPr>
      </p:sp>
      <p:sp>
        <p:nvSpPr>
          <p:cNvPr id="12" name="Text 10"/>
          <p:cNvSpPr txBox="1"/>
          <p:nvPr/>
        </p:nvSpPr>
        <p:spPr>
          <a:xfrm>
            <a:off x="3172968" y="2679192"/>
            <a:ext cx="2249424" cy="310896"/>
          </a:xfrm>
          <a:prstGeom prst="rect">
            <a:avLst/>
          </a:prstGeom>
          <a:noFill/>
          <a:ln/>
        </p:spPr>
        <p:txBody>
          <a:bodyPr wrap="square" lIns="0" tIns="0" rIns="0" bIns="0" rtlCol="0" anchor="ctr"/>
          <a:lstStyle/>
          <a:p>
            <a:pPr marL="0" indent="0" algn="l">
              <a:spcAft>
                <a:spcPts val="300"/>
              </a:spcAft>
              <a:buNone/>
            </a:pPr>
            <a:r>
              <a:rPr lang="en-US" sz="1100" b="1" dirty="0">
                <a:solidFill>
                  <a:schemeClr val="tx2"/>
                </a:solidFill>
              </a:rPr>
              <a:t>Flows, roles, REST API, dashboard</a:t>
            </a:r>
            <a:endParaRPr lang="en-US" sz="1100" dirty="0"/>
          </a:p>
        </p:txBody>
      </p:sp>
      <p:sp>
        <p:nvSpPr>
          <p:cNvPr id="13" name="Shape 11"/>
          <p:cNvSpPr/>
          <p:nvPr/>
        </p:nvSpPr>
        <p:spPr>
          <a:xfrm>
            <a:off x="6126480" y="1097280"/>
            <a:ext cx="2560320" cy="2377440"/>
          </a:xfrm>
          <a:prstGeom prst="roundRect">
            <a:avLst>
              <a:gd name="adj" fmla="val 3077"/>
            </a:avLst>
          </a:prstGeom>
          <a:solidFill>
            <a:schemeClr val="bg2"/>
          </a:solidFill>
          <a:ln w="12700">
            <a:solidFill>
              <a:schemeClr val="accent3"/>
            </a:solidFill>
            <a:prstDash val="solid"/>
          </a:ln>
        </p:spPr>
      </p:sp>
      <p:sp>
        <p:nvSpPr>
          <p:cNvPr id="14" name="Text 12"/>
          <p:cNvSpPr txBox="1"/>
          <p:nvPr/>
        </p:nvSpPr>
        <p:spPr>
          <a:xfrm>
            <a:off x="6263640" y="1170432"/>
            <a:ext cx="2377440" cy="274320"/>
          </a:xfrm>
          <a:prstGeom prst="rect">
            <a:avLst/>
          </a:prstGeom>
          <a:noFill/>
          <a:ln/>
        </p:spPr>
        <p:txBody>
          <a:bodyPr wrap="square" lIns="0" tIns="0" rIns="0" bIns="0" rtlCol="0" anchor="t"/>
          <a:lstStyle/>
          <a:p>
            <a:pPr marL="0" indent="0">
              <a:buNone/>
            </a:pPr>
            <a:r>
              <a:rPr lang="en-US" sz="1400" b="1" dirty="0">
                <a:solidFill>
                  <a:schemeClr val="tx2"/>
                </a:solidFill>
              </a:rPr>
              <a:t>Agent service (Python)</a:t>
            </a:r>
            <a:endParaRPr lang="en-US" sz="1300" dirty="0"/>
          </a:p>
        </p:txBody>
      </p:sp>
      <p:sp>
        <p:nvSpPr>
          <p:cNvPr id="15" name="Shape 13"/>
          <p:cNvSpPr/>
          <p:nvPr/>
        </p:nvSpPr>
        <p:spPr>
          <a:xfrm>
            <a:off x="6263640" y="1508760"/>
            <a:ext cx="2286000" cy="457200"/>
          </a:xfrm>
          <a:prstGeom prst="roundRect">
            <a:avLst>
              <a:gd name="adj" fmla="val 16000"/>
            </a:avLst>
          </a:prstGeom>
          <a:solidFill>
            <a:schemeClr val="bg1"/>
          </a:solidFill>
          <a:ln/>
        </p:spPr>
      </p:sp>
      <p:sp>
        <p:nvSpPr>
          <p:cNvPr id="16" name="Text 14"/>
          <p:cNvSpPr txBox="1"/>
          <p:nvPr/>
        </p:nvSpPr>
        <p:spPr>
          <a:xfrm>
            <a:off x="6373368" y="1581912"/>
            <a:ext cx="2066544" cy="310896"/>
          </a:xfrm>
          <a:prstGeom prst="rect">
            <a:avLst/>
          </a:prstGeom>
          <a:noFill/>
          <a:ln/>
        </p:spPr>
        <p:txBody>
          <a:bodyPr wrap="square" lIns="0" tIns="0" rIns="0" bIns="0" rtlCol="0" anchor="ctr"/>
          <a:lstStyle/>
          <a:p>
            <a:pPr marL="0" indent="0" algn="l">
              <a:spcAft>
                <a:spcPts val="300"/>
              </a:spcAft>
              <a:buNone/>
            </a:pPr>
            <a:r>
              <a:rPr lang="en-US" sz="1100" b="1" dirty="0">
                <a:solidFill>
                  <a:schemeClr val="tx2"/>
                </a:solidFill>
              </a:rPr>
              <a:t>FastAPI + LangGraph graphs</a:t>
            </a:r>
            <a:endParaRPr lang="en-US" sz="1100" dirty="0"/>
          </a:p>
        </p:txBody>
      </p:sp>
      <p:sp>
        <p:nvSpPr>
          <p:cNvPr id="17" name="Shape 15"/>
          <p:cNvSpPr/>
          <p:nvPr/>
        </p:nvSpPr>
        <p:spPr>
          <a:xfrm>
            <a:off x="6263640" y="2057400"/>
            <a:ext cx="2286000" cy="457200"/>
          </a:xfrm>
          <a:prstGeom prst="roundRect">
            <a:avLst>
              <a:gd name="adj" fmla="val 16000"/>
            </a:avLst>
          </a:prstGeom>
          <a:solidFill>
            <a:schemeClr val="bg1"/>
          </a:solidFill>
          <a:ln/>
        </p:spPr>
      </p:sp>
      <p:sp>
        <p:nvSpPr>
          <p:cNvPr id="18" name="Text 16"/>
          <p:cNvSpPr txBox="1"/>
          <p:nvPr/>
        </p:nvSpPr>
        <p:spPr>
          <a:xfrm>
            <a:off x="6373368" y="2130552"/>
            <a:ext cx="2066544" cy="310896"/>
          </a:xfrm>
          <a:prstGeom prst="rect">
            <a:avLst/>
          </a:prstGeom>
          <a:noFill/>
          <a:ln/>
        </p:spPr>
        <p:txBody>
          <a:bodyPr wrap="square" lIns="0" tIns="0" rIns="0" bIns="0" rtlCol="0" anchor="ctr"/>
          <a:lstStyle/>
          <a:p>
            <a:pPr marL="0" indent="0" algn="l">
              <a:spcAft>
                <a:spcPts val="300"/>
              </a:spcAft>
              <a:buNone/>
            </a:pPr>
            <a:r>
              <a:rPr lang="en-US" sz="1100" b="1" dirty="0">
                <a:solidFill>
                  <a:schemeClr val="tx2"/>
                </a:solidFill>
              </a:rPr>
              <a:t>Hybrid search, Ollama embeddings</a:t>
            </a:r>
            <a:endParaRPr lang="en-US" sz="1100" dirty="0"/>
          </a:p>
        </p:txBody>
      </p:sp>
      <p:sp>
        <p:nvSpPr>
          <p:cNvPr id="19" name="Shape 17"/>
          <p:cNvSpPr/>
          <p:nvPr/>
        </p:nvSpPr>
        <p:spPr>
          <a:xfrm>
            <a:off x="6263640" y="2606040"/>
            <a:ext cx="2286000" cy="457200"/>
          </a:xfrm>
          <a:prstGeom prst="roundRect">
            <a:avLst>
              <a:gd name="adj" fmla="val 16000"/>
            </a:avLst>
          </a:prstGeom>
          <a:solidFill>
            <a:schemeClr val="bg1"/>
          </a:solidFill>
          <a:ln/>
        </p:spPr>
      </p:sp>
      <p:sp>
        <p:nvSpPr>
          <p:cNvPr id="20" name="Text 18"/>
          <p:cNvSpPr txBox="1"/>
          <p:nvPr/>
        </p:nvSpPr>
        <p:spPr>
          <a:xfrm>
            <a:off x="6373368" y="2679192"/>
            <a:ext cx="2066544" cy="310896"/>
          </a:xfrm>
          <a:prstGeom prst="rect">
            <a:avLst/>
          </a:prstGeom>
          <a:noFill/>
          <a:ln/>
        </p:spPr>
        <p:txBody>
          <a:bodyPr wrap="square" lIns="0" tIns="0" rIns="0" bIns="0" rtlCol="0" anchor="ctr"/>
          <a:lstStyle/>
          <a:p>
            <a:pPr marL="0" indent="0" algn="l">
              <a:spcAft>
                <a:spcPts val="300"/>
              </a:spcAft>
              <a:buNone/>
            </a:pPr>
            <a:r>
              <a:rPr lang="en-US" sz="1100" b="1" dirty="0">
                <a:solidFill>
                  <a:schemeClr val="tx2"/>
                </a:solidFill>
              </a:rPr>
              <a:t>LLM router: Gemini + fallback</a:t>
            </a:r>
            <a:endParaRPr lang="en-US" sz="1100" dirty="0"/>
          </a:p>
        </p:txBody>
      </p:sp>
      <p:sp>
        <p:nvSpPr>
          <p:cNvPr id="21" name="Shape 19"/>
          <p:cNvSpPr/>
          <p:nvPr/>
        </p:nvSpPr>
        <p:spPr>
          <a:xfrm>
            <a:off x="2926080" y="3886200"/>
            <a:ext cx="5760720" cy="731520"/>
          </a:xfrm>
          <a:prstGeom prst="roundRect">
            <a:avLst>
              <a:gd name="adj" fmla="val 10000"/>
            </a:avLst>
          </a:prstGeom>
          <a:solidFill>
            <a:schemeClr val="tx2"/>
          </a:solidFill>
          <a:ln/>
        </p:spPr>
      </p:sp>
      <p:sp>
        <p:nvSpPr>
          <p:cNvPr id="22" name="Text 20"/>
          <p:cNvSpPr txBox="1"/>
          <p:nvPr/>
        </p:nvSpPr>
        <p:spPr>
          <a:xfrm>
            <a:off x="3035808" y="3959352"/>
            <a:ext cx="5541264" cy="585216"/>
          </a:xfrm>
          <a:prstGeom prst="rect">
            <a:avLst/>
          </a:prstGeom>
          <a:noFill/>
          <a:ln/>
        </p:spPr>
        <p:txBody>
          <a:bodyPr wrap="square" lIns="0" tIns="0" rIns="0" bIns="0" rtlCol="0" anchor="ctr"/>
          <a:lstStyle/>
          <a:p>
            <a:pPr marL="0" indent="0" algn="l">
              <a:spcAft>
                <a:spcPts val="300"/>
              </a:spcAft>
              <a:buNone/>
            </a:pPr>
            <a:r>
              <a:rPr lang="en-US" sz="1400" b="1" dirty="0">
                <a:solidFill>
                  <a:schemeClr val="accent2"/>
                </a:solidFill>
              </a:rPr>
              <a:t>PostgreSQL 16</a:t>
            </a:r>
            <a:endParaRPr lang="en-US" sz="1400" dirty="0"/>
          </a:p>
          <a:p>
            <a:pPr marL="0" indent="0" algn="l">
              <a:spcAft>
                <a:spcPts val="300"/>
              </a:spcAft>
              <a:buNone/>
            </a:pPr>
            <a:r>
              <a:rPr lang="en-US" sz="1100" dirty="0">
                <a:solidFill>
                  <a:schemeClr val="bg1"/>
                </a:solidFill>
              </a:rPr>
              <a:t>business data  |  agent runs and steps  |  AI suggestions  |  search schema (pgvector, full text, trigram)</a:t>
            </a:r>
            <a:endParaRPr lang="en-US" sz="1400" dirty="0"/>
          </a:p>
        </p:txBody>
      </p:sp>
      <p:sp>
        <p:nvSpPr>
          <p:cNvPr id="23" name="Shape 21"/>
          <p:cNvSpPr/>
          <p:nvPr/>
        </p:nvSpPr>
        <p:spPr>
          <a:xfrm>
            <a:off x="2468880" y="2286000"/>
            <a:ext cx="457200" cy="0"/>
          </a:xfrm>
          <a:prstGeom prst="line">
            <a:avLst/>
          </a:prstGeom>
          <a:noFill/>
          <a:ln w="19050">
            <a:solidFill>
              <a:schemeClr val="accent6"/>
            </a:solidFill>
            <a:prstDash val="solid"/>
            <a:tailEnd type="triangle"/>
          </a:ln>
        </p:spPr>
      </p:sp>
      <p:sp>
        <p:nvSpPr>
          <p:cNvPr id="24" name="Shape 22"/>
          <p:cNvSpPr/>
          <p:nvPr/>
        </p:nvSpPr>
        <p:spPr>
          <a:xfrm>
            <a:off x="5669280" y="1828800"/>
            <a:ext cx="457200" cy="0"/>
          </a:xfrm>
          <a:prstGeom prst="line">
            <a:avLst/>
          </a:prstGeom>
          <a:noFill/>
          <a:ln w="19050">
            <a:solidFill>
              <a:schemeClr val="accent6"/>
            </a:solidFill>
            <a:prstDash val="solid"/>
            <a:tailEnd type="triangle"/>
          </a:ln>
        </p:spPr>
      </p:sp>
      <p:sp>
        <p:nvSpPr>
          <p:cNvPr id="25" name="Shape 23"/>
          <p:cNvSpPr/>
          <p:nvPr/>
        </p:nvSpPr>
        <p:spPr>
          <a:xfrm>
            <a:off x="4297680" y="3474720"/>
            <a:ext cx="0" cy="411480"/>
          </a:xfrm>
          <a:prstGeom prst="line">
            <a:avLst/>
          </a:prstGeom>
          <a:noFill/>
          <a:ln w="19050">
            <a:solidFill>
              <a:schemeClr val="accent6"/>
            </a:solidFill>
            <a:prstDash val="solid"/>
            <a:tailEnd type="triangle"/>
          </a:ln>
        </p:spPr>
      </p:sp>
      <p:sp>
        <p:nvSpPr>
          <p:cNvPr id="26" name="Shape 24"/>
          <p:cNvSpPr/>
          <p:nvPr/>
        </p:nvSpPr>
        <p:spPr>
          <a:xfrm>
            <a:off x="7406640" y="3474720"/>
            <a:ext cx="0" cy="411480"/>
          </a:xfrm>
          <a:prstGeom prst="line">
            <a:avLst/>
          </a:prstGeom>
          <a:noFill/>
          <a:ln w="19050">
            <a:solidFill>
              <a:schemeClr val="accent6"/>
            </a:solidFill>
            <a:prstDash val="solid"/>
            <a:tailEnd type="triangle"/>
          </a:ln>
        </p:spPr>
      </p:sp>
      <p:sp>
        <p:nvSpPr>
          <p:cNvPr id="27" name="Text 25"/>
          <p:cNvSpPr txBox="1"/>
          <p:nvPr/>
        </p:nvSpPr>
        <p:spPr>
          <a:xfrm>
            <a:off x="457200" y="3063240"/>
            <a:ext cx="2286000" cy="1280160"/>
          </a:xfrm>
          <a:prstGeom prst="rect">
            <a:avLst/>
          </a:prstGeom>
          <a:noFill/>
          <a:ln/>
        </p:spPr>
        <p:txBody>
          <a:bodyPr wrap="square" lIns="0" tIns="0" rIns="0" bIns="0" rtlCol="0" anchor="t"/>
          <a:lstStyle/>
          <a:p>
            <a:pPr marL="0" indent="0">
              <a:buNone/>
            </a:pPr>
            <a:r>
              <a:rPr lang="en-US" sz="1100" dirty="0">
                <a:solidFill>
                  <a:schemeClr val="accent6"/>
                </a:solidFill>
              </a:rPr>
              <a:t>Flows call the agent service; the agent reads and writes through Directus with its own restricted user</a:t>
            </a:r>
            <a:endParaRPr lang="en-US" sz="1100" dirty="0"/>
          </a:p>
        </p:txBody>
      </p:sp>
      <p:sp>
        <p:nvSpPr>
          <p:cNvPr id="28"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rPr>
              <a:t>Data model (ERD)</a:t>
            </a:r>
            <a:endParaRPr lang="en-US" sz="2800" dirty="0"/>
          </a:p>
        </p:txBody>
      </p:sp>
      <p:sp>
        <p:nvSpPr>
          <p:cNvPr id="3" name="Shape 1"/>
          <p:cNvSpPr/>
          <p:nvPr/>
        </p:nvSpPr>
        <p:spPr>
          <a:xfrm>
            <a:off x="457200" y="1097280"/>
            <a:ext cx="2286000" cy="731520"/>
          </a:xfrm>
          <a:prstGeom prst="roundRect">
            <a:avLst>
              <a:gd name="adj" fmla="val 10000"/>
            </a:avLst>
          </a:prstGeom>
          <a:solidFill>
            <a:schemeClr val="bg2"/>
          </a:solidFill>
          <a:ln/>
        </p:spPr>
      </p:sp>
      <p:sp>
        <p:nvSpPr>
          <p:cNvPr id="4" name="Text 2"/>
          <p:cNvSpPr txBox="1"/>
          <p:nvPr/>
        </p:nvSpPr>
        <p:spPr>
          <a:xfrm>
            <a:off x="566928" y="1170432"/>
            <a:ext cx="2066544" cy="585216"/>
          </a:xfrm>
          <a:prstGeom prst="rect">
            <a:avLst/>
          </a:prstGeom>
          <a:noFill/>
          <a:ln/>
        </p:spPr>
        <p:txBody>
          <a:bodyPr wrap="square" lIns="0" tIns="0" rIns="0" bIns="0" rtlCol="0" anchor="t"/>
          <a:lstStyle/>
          <a:p>
            <a:pPr marL="0" indent="0" algn="l">
              <a:spcAft>
                <a:spcPts val="300"/>
              </a:spcAft>
              <a:buNone/>
            </a:pPr>
            <a:r>
              <a:rPr lang="en-US" sz="1300" b="1" dirty="0">
                <a:solidFill>
                  <a:schemeClr val="tx2"/>
                </a:solidFill>
              </a:rPr>
              <a:t>customers</a:t>
            </a:r>
            <a:endParaRPr lang="en-US" sz="1300" dirty="0"/>
          </a:p>
        </p:txBody>
      </p:sp>
      <p:sp>
        <p:nvSpPr>
          <p:cNvPr id="5" name="Shape 3"/>
          <p:cNvSpPr/>
          <p:nvPr/>
        </p:nvSpPr>
        <p:spPr>
          <a:xfrm>
            <a:off x="457200" y="2057400"/>
            <a:ext cx="2286000" cy="731520"/>
          </a:xfrm>
          <a:prstGeom prst="roundRect">
            <a:avLst>
              <a:gd name="adj" fmla="val 10000"/>
            </a:avLst>
          </a:prstGeom>
          <a:solidFill>
            <a:schemeClr val="bg2"/>
          </a:solidFill>
          <a:ln/>
        </p:spPr>
      </p:sp>
      <p:sp>
        <p:nvSpPr>
          <p:cNvPr id="6" name="Text 4"/>
          <p:cNvSpPr txBox="1"/>
          <p:nvPr/>
        </p:nvSpPr>
        <p:spPr>
          <a:xfrm>
            <a:off x="566928" y="2130552"/>
            <a:ext cx="2066544" cy="585216"/>
          </a:xfrm>
          <a:prstGeom prst="rect">
            <a:avLst/>
          </a:prstGeom>
          <a:noFill/>
          <a:ln/>
        </p:spPr>
        <p:txBody>
          <a:bodyPr wrap="square" lIns="0" tIns="0" rIns="0" bIns="0" rtlCol="0" anchor="t"/>
          <a:lstStyle/>
          <a:p>
            <a:pPr marL="0" indent="0" algn="l">
              <a:spcAft>
                <a:spcPts val="300"/>
              </a:spcAft>
              <a:buNone/>
            </a:pPr>
            <a:r>
              <a:rPr lang="en-US" sz="1300" b="1" dirty="0">
                <a:solidFill>
                  <a:schemeClr val="tx2"/>
                </a:solidFill>
              </a:rPr>
              <a:t>environments</a:t>
            </a:r>
            <a:endParaRPr lang="en-US" sz="1300" dirty="0"/>
          </a:p>
          <a:p>
            <a:pPr marL="0" indent="0" algn="l">
              <a:spcAft>
                <a:spcPts val="300"/>
              </a:spcAft>
              <a:buNone/>
            </a:pPr>
            <a:r>
              <a:rPr lang="en-US" sz="1000" dirty="0">
                <a:solidFill>
                  <a:schemeClr val="tx1"/>
                </a:solidFill>
              </a:rPr>
              <a:t>version, modules, integrations</a:t>
            </a:r>
            <a:endParaRPr lang="en-US" sz="1300" dirty="0"/>
          </a:p>
        </p:txBody>
      </p:sp>
      <p:sp>
        <p:nvSpPr>
          <p:cNvPr id="7" name="Shape 5"/>
          <p:cNvSpPr/>
          <p:nvPr/>
        </p:nvSpPr>
        <p:spPr>
          <a:xfrm>
            <a:off x="457200" y="3108960"/>
            <a:ext cx="2286000" cy="731520"/>
          </a:xfrm>
          <a:prstGeom prst="roundRect">
            <a:avLst>
              <a:gd name="adj" fmla="val 10000"/>
            </a:avLst>
          </a:prstGeom>
          <a:solidFill>
            <a:schemeClr val="bg2"/>
          </a:solidFill>
          <a:ln/>
        </p:spPr>
      </p:sp>
      <p:sp>
        <p:nvSpPr>
          <p:cNvPr id="8" name="Text 6"/>
          <p:cNvSpPr txBox="1"/>
          <p:nvPr/>
        </p:nvSpPr>
        <p:spPr>
          <a:xfrm>
            <a:off x="566928" y="3182112"/>
            <a:ext cx="2066544" cy="585216"/>
          </a:xfrm>
          <a:prstGeom prst="rect">
            <a:avLst/>
          </a:prstGeom>
          <a:noFill/>
          <a:ln/>
        </p:spPr>
        <p:txBody>
          <a:bodyPr wrap="square" lIns="0" tIns="0" rIns="0" bIns="0" rtlCol="0" anchor="t"/>
          <a:lstStyle/>
          <a:p>
            <a:pPr marL="0" indent="0" algn="l">
              <a:spcAft>
                <a:spcPts val="300"/>
              </a:spcAft>
              <a:buNone/>
            </a:pPr>
            <a:r>
              <a:rPr lang="en-US" sz="1300" b="1" dirty="0">
                <a:solidFill>
                  <a:schemeClr val="tx2"/>
                </a:solidFill>
              </a:rPr>
              <a:t>releases</a:t>
            </a:r>
            <a:endParaRPr lang="en-US" sz="1300" dirty="0"/>
          </a:p>
          <a:p>
            <a:pPr marL="0" indent="0" algn="l">
              <a:spcAft>
                <a:spcPts val="300"/>
              </a:spcAft>
              <a:buNone/>
            </a:pPr>
            <a:r>
              <a:rPr lang="en-US" sz="1000" dirty="0">
                <a:solidFill>
                  <a:schemeClr val="tx1"/>
                </a:solidFill>
              </a:rPr>
              <a:t>release_changes</a:t>
            </a:r>
            <a:endParaRPr lang="en-US" sz="1300" dirty="0"/>
          </a:p>
        </p:txBody>
      </p:sp>
      <p:sp>
        <p:nvSpPr>
          <p:cNvPr id="9" name="Shape 7"/>
          <p:cNvSpPr/>
          <p:nvPr/>
        </p:nvSpPr>
        <p:spPr>
          <a:xfrm>
            <a:off x="3108960" y="1097280"/>
            <a:ext cx="2286000" cy="731520"/>
          </a:xfrm>
          <a:prstGeom prst="roundRect">
            <a:avLst>
              <a:gd name="adj" fmla="val 10000"/>
            </a:avLst>
          </a:prstGeom>
          <a:solidFill>
            <a:schemeClr val="bg2"/>
          </a:solidFill>
          <a:ln/>
        </p:spPr>
      </p:sp>
      <p:sp>
        <p:nvSpPr>
          <p:cNvPr id="10" name="Text 8"/>
          <p:cNvSpPr txBox="1"/>
          <p:nvPr/>
        </p:nvSpPr>
        <p:spPr>
          <a:xfrm>
            <a:off x="3218688" y="1170432"/>
            <a:ext cx="2066544" cy="585216"/>
          </a:xfrm>
          <a:prstGeom prst="rect">
            <a:avLst/>
          </a:prstGeom>
          <a:noFill/>
          <a:ln/>
        </p:spPr>
        <p:txBody>
          <a:bodyPr wrap="square" lIns="0" tIns="0" rIns="0" bIns="0" rtlCol="0" anchor="t"/>
          <a:lstStyle/>
          <a:p>
            <a:pPr marL="0" indent="0" algn="l">
              <a:spcAft>
                <a:spcPts val="300"/>
              </a:spcAft>
              <a:buNone/>
            </a:pPr>
            <a:r>
              <a:rPr lang="en-US" sz="1300" b="1" dirty="0">
                <a:solidFill>
                  <a:schemeClr val="tx2"/>
                </a:solidFill>
              </a:rPr>
              <a:t>investigation_steps</a:t>
            </a:r>
            <a:endParaRPr lang="en-US" sz="1300" dirty="0"/>
          </a:p>
          <a:p>
            <a:pPr marL="0" indent="0" algn="l">
              <a:spcAft>
                <a:spcPts val="300"/>
              </a:spcAft>
              <a:buNone/>
            </a:pPr>
            <a:r>
              <a:rPr lang="en-US" sz="1000" dirty="0">
                <a:solidFill>
                  <a:schemeClr val="tx1"/>
                </a:solidFill>
              </a:rPr>
              <a:t>action, finding, result</a:t>
            </a:r>
            <a:endParaRPr lang="en-US" sz="1300" dirty="0"/>
          </a:p>
        </p:txBody>
      </p:sp>
      <p:sp>
        <p:nvSpPr>
          <p:cNvPr id="11" name="Shape 9"/>
          <p:cNvSpPr/>
          <p:nvPr/>
        </p:nvSpPr>
        <p:spPr>
          <a:xfrm>
            <a:off x="3108960" y="2057400"/>
            <a:ext cx="2286000" cy="731520"/>
          </a:xfrm>
          <a:prstGeom prst="roundRect">
            <a:avLst>
              <a:gd name="adj" fmla="val 10000"/>
            </a:avLst>
          </a:prstGeom>
          <a:solidFill>
            <a:schemeClr val="tx2"/>
          </a:solidFill>
          <a:ln/>
        </p:spPr>
      </p:sp>
      <p:sp>
        <p:nvSpPr>
          <p:cNvPr id="12" name="Text 10"/>
          <p:cNvSpPr txBox="1"/>
          <p:nvPr/>
        </p:nvSpPr>
        <p:spPr>
          <a:xfrm>
            <a:off x="3218688" y="2130552"/>
            <a:ext cx="2066544" cy="585216"/>
          </a:xfrm>
          <a:prstGeom prst="rect">
            <a:avLst/>
          </a:prstGeom>
          <a:noFill/>
          <a:ln/>
        </p:spPr>
        <p:txBody>
          <a:bodyPr wrap="square" lIns="0" tIns="0" rIns="0" bIns="0" rtlCol="0" anchor="t"/>
          <a:lstStyle/>
          <a:p>
            <a:pPr marL="0" indent="0" algn="l">
              <a:spcAft>
                <a:spcPts val="300"/>
              </a:spcAft>
              <a:buNone/>
            </a:pPr>
            <a:r>
              <a:rPr lang="en-US" sz="1300" b="1" dirty="0">
                <a:solidFill>
                  <a:schemeClr val="accent2"/>
                </a:solidFill>
              </a:rPr>
              <a:t>cases</a:t>
            </a:r>
            <a:endParaRPr lang="en-US" sz="1300" dirty="0"/>
          </a:p>
          <a:p>
            <a:pPr marL="0" indent="0" algn="l">
              <a:spcAft>
                <a:spcPts val="300"/>
              </a:spcAft>
              <a:buNone/>
            </a:pPr>
            <a:r>
              <a:rPr lang="en-US" sz="1000" dirty="0">
                <a:solidFill>
                  <a:schemeClr val="bg1"/>
                </a:solidFill>
              </a:rPr>
              <a:t>report, symptoms, version, status</a:t>
            </a:r>
            <a:endParaRPr lang="en-US" sz="1300" dirty="0"/>
          </a:p>
        </p:txBody>
      </p:sp>
      <p:sp>
        <p:nvSpPr>
          <p:cNvPr id="13" name="Shape 11"/>
          <p:cNvSpPr/>
          <p:nvPr/>
        </p:nvSpPr>
        <p:spPr>
          <a:xfrm>
            <a:off x="3108960" y="3108960"/>
            <a:ext cx="2286000" cy="731520"/>
          </a:xfrm>
          <a:prstGeom prst="roundRect">
            <a:avLst>
              <a:gd name="adj" fmla="val 10000"/>
            </a:avLst>
          </a:prstGeom>
          <a:solidFill>
            <a:schemeClr val="bg2"/>
          </a:solidFill>
          <a:ln/>
        </p:spPr>
      </p:sp>
      <p:sp>
        <p:nvSpPr>
          <p:cNvPr id="14" name="Text 12"/>
          <p:cNvSpPr txBox="1"/>
          <p:nvPr/>
        </p:nvSpPr>
        <p:spPr>
          <a:xfrm>
            <a:off x="3218688" y="3182112"/>
            <a:ext cx="2066544" cy="585216"/>
          </a:xfrm>
          <a:prstGeom prst="rect">
            <a:avLst/>
          </a:prstGeom>
          <a:noFill/>
          <a:ln/>
        </p:spPr>
        <p:txBody>
          <a:bodyPr wrap="square" lIns="0" tIns="0" rIns="0" bIns="0" rtlCol="0" anchor="t"/>
          <a:lstStyle/>
          <a:p>
            <a:pPr marL="0" indent="0" algn="l">
              <a:spcAft>
                <a:spcPts val="300"/>
              </a:spcAft>
              <a:buNone/>
            </a:pPr>
            <a:r>
              <a:rPr lang="en-US" sz="1300" b="1" dirty="0">
                <a:solidFill>
                  <a:schemeClr val="tx2"/>
                </a:solidFill>
              </a:rPr>
              <a:t>case_links / problems</a:t>
            </a:r>
            <a:endParaRPr lang="en-US" sz="1300" dirty="0"/>
          </a:p>
        </p:txBody>
      </p:sp>
      <p:sp>
        <p:nvSpPr>
          <p:cNvPr id="15" name="Shape 13"/>
          <p:cNvSpPr/>
          <p:nvPr/>
        </p:nvSpPr>
        <p:spPr>
          <a:xfrm>
            <a:off x="5760720" y="1097280"/>
            <a:ext cx="2286000" cy="731520"/>
          </a:xfrm>
          <a:prstGeom prst="roundRect">
            <a:avLst>
              <a:gd name="adj" fmla="val 10000"/>
            </a:avLst>
          </a:prstGeom>
          <a:solidFill>
            <a:schemeClr val="tx2"/>
          </a:solidFill>
          <a:ln/>
        </p:spPr>
      </p:sp>
      <p:sp>
        <p:nvSpPr>
          <p:cNvPr id="16" name="Text 14"/>
          <p:cNvSpPr txBox="1"/>
          <p:nvPr/>
        </p:nvSpPr>
        <p:spPr>
          <a:xfrm>
            <a:off x="5870448" y="1170432"/>
            <a:ext cx="2066544" cy="585216"/>
          </a:xfrm>
          <a:prstGeom prst="rect">
            <a:avLst/>
          </a:prstGeom>
          <a:noFill/>
          <a:ln/>
        </p:spPr>
        <p:txBody>
          <a:bodyPr wrap="square" lIns="0" tIns="0" rIns="0" bIns="0" rtlCol="0" anchor="t"/>
          <a:lstStyle/>
          <a:p>
            <a:pPr marL="0" indent="0" algn="l">
              <a:spcAft>
                <a:spcPts val="300"/>
              </a:spcAft>
              <a:buNone/>
            </a:pPr>
            <a:r>
              <a:rPr lang="en-US" sz="1300" b="1" dirty="0">
                <a:solidFill>
                  <a:schemeClr val="accent2"/>
                </a:solidFill>
              </a:rPr>
              <a:t>solutions</a:t>
            </a:r>
            <a:endParaRPr lang="en-US" sz="1300" dirty="0"/>
          </a:p>
          <a:p>
            <a:pPr marL="0" indent="0" algn="l">
              <a:spcAft>
                <a:spcPts val="300"/>
              </a:spcAft>
              <a:buNone/>
            </a:pPr>
            <a:r>
              <a:rPr lang="en-US" sz="1000" dirty="0">
                <a:solidFill>
                  <a:schemeClr val="bg1"/>
                </a:solidFill>
              </a:rPr>
              <a:t>KCS fields, valid versions, track record</a:t>
            </a:r>
            <a:endParaRPr lang="en-US" sz="1300" dirty="0"/>
          </a:p>
        </p:txBody>
      </p:sp>
      <p:sp>
        <p:nvSpPr>
          <p:cNvPr id="17" name="Shape 15"/>
          <p:cNvSpPr/>
          <p:nvPr/>
        </p:nvSpPr>
        <p:spPr>
          <a:xfrm>
            <a:off x="5760720" y="2057400"/>
            <a:ext cx="2286000" cy="731520"/>
          </a:xfrm>
          <a:prstGeom prst="roundRect">
            <a:avLst>
              <a:gd name="adj" fmla="val 10000"/>
            </a:avLst>
          </a:prstGeom>
          <a:solidFill>
            <a:schemeClr val="tx2"/>
          </a:solidFill>
          <a:ln/>
        </p:spPr>
      </p:sp>
      <p:sp>
        <p:nvSpPr>
          <p:cNvPr id="18" name="Text 16"/>
          <p:cNvSpPr txBox="1"/>
          <p:nvPr/>
        </p:nvSpPr>
        <p:spPr>
          <a:xfrm>
            <a:off x="5870448" y="2130552"/>
            <a:ext cx="2066544" cy="585216"/>
          </a:xfrm>
          <a:prstGeom prst="rect">
            <a:avLst/>
          </a:prstGeom>
          <a:noFill/>
          <a:ln/>
        </p:spPr>
        <p:txBody>
          <a:bodyPr wrap="square" lIns="0" tIns="0" rIns="0" bIns="0" rtlCol="0" anchor="t"/>
          <a:lstStyle/>
          <a:p>
            <a:pPr marL="0" indent="0" algn="l">
              <a:spcAft>
                <a:spcPts val="300"/>
              </a:spcAft>
              <a:buNone/>
            </a:pPr>
            <a:r>
              <a:rPr lang="en-US" sz="1300" b="1" dirty="0">
                <a:solidFill>
                  <a:schemeClr val="accent2"/>
                </a:solidFill>
              </a:rPr>
              <a:t>case_solutions</a:t>
            </a:r>
            <a:endParaRPr lang="en-US" sz="1300" dirty="0"/>
          </a:p>
          <a:p>
            <a:pPr marL="0" indent="0" algn="l">
              <a:spcAft>
                <a:spcPts val="300"/>
              </a:spcAft>
              <a:buNone/>
            </a:pPr>
            <a:r>
              <a:rPr lang="en-US" sz="1000" dirty="0">
                <a:solidFill>
                  <a:schemeClr val="bg1"/>
                </a:solidFill>
              </a:rPr>
              <a:t>relation, outcome, version</a:t>
            </a:r>
            <a:endParaRPr lang="en-US" sz="1300" dirty="0"/>
          </a:p>
        </p:txBody>
      </p:sp>
      <p:sp>
        <p:nvSpPr>
          <p:cNvPr id="19" name="Shape 17"/>
          <p:cNvSpPr/>
          <p:nvPr/>
        </p:nvSpPr>
        <p:spPr>
          <a:xfrm>
            <a:off x="5760720" y="3108960"/>
            <a:ext cx="2286000" cy="731520"/>
          </a:xfrm>
          <a:prstGeom prst="roundRect">
            <a:avLst>
              <a:gd name="adj" fmla="val 10000"/>
            </a:avLst>
          </a:prstGeom>
          <a:solidFill>
            <a:schemeClr val="bg2"/>
          </a:solidFill>
          <a:ln/>
        </p:spPr>
      </p:sp>
      <p:sp>
        <p:nvSpPr>
          <p:cNvPr id="20" name="Text 18"/>
          <p:cNvSpPr txBox="1"/>
          <p:nvPr/>
        </p:nvSpPr>
        <p:spPr>
          <a:xfrm>
            <a:off x="5870448" y="3182112"/>
            <a:ext cx="2066544" cy="585216"/>
          </a:xfrm>
          <a:prstGeom prst="rect">
            <a:avLst/>
          </a:prstGeom>
          <a:noFill/>
          <a:ln/>
        </p:spPr>
        <p:txBody>
          <a:bodyPr wrap="square" lIns="0" tIns="0" rIns="0" bIns="0" rtlCol="0" anchor="t"/>
          <a:lstStyle/>
          <a:p>
            <a:pPr marL="0" indent="0" algn="l">
              <a:spcAft>
                <a:spcPts val="300"/>
              </a:spcAft>
              <a:buNone/>
            </a:pPr>
            <a:r>
              <a:rPr lang="en-US" sz="1300" b="1" dirty="0">
                <a:solidFill>
                  <a:schemeClr val="tx2"/>
                </a:solidFill>
              </a:rPr>
              <a:t>ai_suggestions</a:t>
            </a:r>
            <a:endParaRPr lang="en-US" sz="1300" dirty="0"/>
          </a:p>
          <a:p>
            <a:pPr marL="0" indent="0" algn="l">
              <a:spcAft>
                <a:spcPts val="300"/>
              </a:spcAft>
              <a:buNone/>
            </a:pPr>
            <a:r>
              <a:rPr lang="en-US" sz="1000" dirty="0">
                <a:solidFill>
                  <a:schemeClr val="tx1"/>
                </a:solidFill>
              </a:rPr>
              <a:t>agent_runs, agent_steps</a:t>
            </a:r>
            <a:endParaRPr lang="en-US" sz="1300" dirty="0"/>
          </a:p>
        </p:txBody>
      </p:sp>
      <p:sp>
        <p:nvSpPr>
          <p:cNvPr id="21" name="Shape 19"/>
          <p:cNvSpPr/>
          <p:nvPr/>
        </p:nvSpPr>
        <p:spPr>
          <a:xfrm>
            <a:off x="1600200" y="1828800"/>
            <a:ext cx="0" cy="228600"/>
          </a:xfrm>
          <a:prstGeom prst="line">
            <a:avLst/>
          </a:prstGeom>
          <a:noFill/>
          <a:ln w="19050">
            <a:solidFill>
              <a:schemeClr val="accent6"/>
            </a:solidFill>
            <a:prstDash val="solid"/>
            <a:tailEnd type="triangle"/>
          </a:ln>
        </p:spPr>
      </p:sp>
      <p:sp>
        <p:nvSpPr>
          <p:cNvPr id="22" name="Shape 20"/>
          <p:cNvSpPr/>
          <p:nvPr/>
        </p:nvSpPr>
        <p:spPr>
          <a:xfrm flipV="1">
            <a:off x="1600200" y="2788920"/>
            <a:ext cx="0" cy="320040"/>
          </a:xfrm>
          <a:prstGeom prst="line">
            <a:avLst/>
          </a:prstGeom>
          <a:noFill/>
          <a:ln w="19050">
            <a:solidFill>
              <a:schemeClr val="accent6"/>
            </a:solidFill>
            <a:prstDash val="solid"/>
            <a:tailEnd type="triangle"/>
          </a:ln>
        </p:spPr>
      </p:sp>
      <p:sp>
        <p:nvSpPr>
          <p:cNvPr id="23" name="Shape 21"/>
          <p:cNvSpPr/>
          <p:nvPr/>
        </p:nvSpPr>
        <p:spPr>
          <a:xfrm>
            <a:off x="2743200" y="2423160"/>
            <a:ext cx="365760" cy="0"/>
          </a:xfrm>
          <a:prstGeom prst="line">
            <a:avLst/>
          </a:prstGeom>
          <a:noFill/>
          <a:ln w="19050">
            <a:solidFill>
              <a:schemeClr val="accent6"/>
            </a:solidFill>
            <a:prstDash val="solid"/>
            <a:tailEnd type="triangle"/>
          </a:ln>
        </p:spPr>
      </p:sp>
      <p:sp>
        <p:nvSpPr>
          <p:cNvPr id="24" name="Shape 22"/>
          <p:cNvSpPr/>
          <p:nvPr/>
        </p:nvSpPr>
        <p:spPr>
          <a:xfrm>
            <a:off x="4251960" y="1828800"/>
            <a:ext cx="0" cy="228600"/>
          </a:xfrm>
          <a:prstGeom prst="line">
            <a:avLst/>
          </a:prstGeom>
          <a:noFill/>
          <a:ln w="19050">
            <a:solidFill>
              <a:schemeClr val="accent6"/>
            </a:solidFill>
            <a:prstDash val="solid"/>
            <a:tailEnd type="triangle"/>
          </a:ln>
        </p:spPr>
      </p:sp>
      <p:sp>
        <p:nvSpPr>
          <p:cNvPr id="25" name="Shape 23"/>
          <p:cNvSpPr/>
          <p:nvPr/>
        </p:nvSpPr>
        <p:spPr>
          <a:xfrm flipV="1">
            <a:off x="4251960" y="2788920"/>
            <a:ext cx="0" cy="320040"/>
          </a:xfrm>
          <a:prstGeom prst="line">
            <a:avLst/>
          </a:prstGeom>
          <a:noFill/>
          <a:ln w="19050">
            <a:solidFill>
              <a:schemeClr val="accent6"/>
            </a:solidFill>
            <a:prstDash val="solid"/>
            <a:tailEnd type="triangle"/>
          </a:ln>
        </p:spPr>
      </p:sp>
      <p:sp>
        <p:nvSpPr>
          <p:cNvPr id="26" name="Shape 24"/>
          <p:cNvSpPr/>
          <p:nvPr/>
        </p:nvSpPr>
        <p:spPr>
          <a:xfrm>
            <a:off x="5394960" y="2423160"/>
            <a:ext cx="365760" cy="0"/>
          </a:xfrm>
          <a:prstGeom prst="line">
            <a:avLst/>
          </a:prstGeom>
          <a:noFill/>
          <a:ln w="19050">
            <a:solidFill>
              <a:schemeClr val="accent6"/>
            </a:solidFill>
            <a:prstDash val="solid"/>
            <a:tailEnd type="triangle"/>
          </a:ln>
        </p:spPr>
      </p:sp>
      <p:sp>
        <p:nvSpPr>
          <p:cNvPr id="27" name="Shape 25"/>
          <p:cNvSpPr/>
          <p:nvPr/>
        </p:nvSpPr>
        <p:spPr>
          <a:xfrm>
            <a:off x="6903720" y="1828800"/>
            <a:ext cx="0" cy="228600"/>
          </a:xfrm>
          <a:prstGeom prst="line">
            <a:avLst/>
          </a:prstGeom>
          <a:noFill/>
          <a:ln w="19050">
            <a:solidFill>
              <a:schemeClr val="accent6"/>
            </a:solidFill>
            <a:prstDash val="solid"/>
            <a:tailEnd type="triangle"/>
          </a:ln>
        </p:spPr>
      </p:sp>
      <p:sp>
        <p:nvSpPr>
          <p:cNvPr id="28" name="Shape 26"/>
          <p:cNvSpPr/>
          <p:nvPr/>
        </p:nvSpPr>
        <p:spPr>
          <a:xfrm flipH="1" flipV="1">
            <a:off x="5394960" y="2743200"/>
            <a:ext cx="365760" cy="548640"/>
          </a:xfrm>
          <a:prstGeom prst="line">
            <a:avLst/>
          </a:prstGeom>
          <a:noFill/>
          <a:ln w="19050">
            <a:solidFill>
              <a:schemeClr val="accent6"/>
            </a:solidFill>
            <a:prstDash val="solid"/>
            <a:tailEnd type="triangle"/>
          </a:ln>
        </p:spPr>
      </p:sp>
      <p:sp>
        <p:nvSpPr>
          <p:cNvPr id="29" name="Text 27"/>
          <p:cNvSpPr txBox="1"/>
          <p:nvPr/>
        </p:nvSpPr>
        <p:spPr>
          <a:xfrm>
            <a:off x="457200" y="4069080"/>
            <a:ext cx="8229600" cy="548640"/>
          </a:xfrm>
          <a:prstGeom prst="rect">
            <a:avLst/>
          </a:prstGeom>
          <a:noFill/>
          <a:ln/>
        </p:spPr>
        <p:txBody>
          <a:bodyPr wrap="square" lIns="0" tIns="0" rIns="0" bIns="0" rtlCol="0" anchor="t"/>
          <a:lstStyle/>
          <a:p>
            <a:pPr marL="0" indent="0">
              <a:buNone/>
            </a:pPr>
            <a:r>
              <a:rPr lang="en-US" sz="1200" dirty="0">
                <a:solidFill>
                  <a:schemeClr val="accent6"/>
                </a:solidFill>
              </a:rPr>
              <a:t>The link between case and solution carries the outcome and the version. A database trigger keeps every solution's track record up to date; a view breaks it down per major version.</a:t>
            </a:r>
            <a:endParaRPr lang="en-US" sz="1200" dirty="0"/>
          </a:p>
        </p:txBody>
      </p:sp>
      <p:sp>
        <p:nvSpPr>
          <p:cNvPr id="30"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rPr>
              <a:t>How the AI agents work</a:t>
            </a:r>
            <a:endParaRPr lang="en-US" sz="2800" dirty="0"/>
          </a:p>
        </p:txBody>
      </p:sp>
      <p:sp>
        <p:nvSpPr>
          <p:cNvPr id="3" name="Shape 1"/>
          <p:cNvSpPr/>
          <p:nvPr/>
        </p:nvSpPr>
        <p:spPr>
          <a:xfrm>
            <a:off x="457200" y="1143000"/>
            <a:ext cx="1298448" cy="1325880"/>
          </a:xfrm>
          <a:prstGeom prst="roundRect">
            <a:avLst>
              <a:gd name="adj" fmla="val 5634"/>
            </a:avLst>
          </a:prstGeom>
          <a:solidFill>
            <a:schemeClr val="bg2"/>
          </a:solidFill>
          <a:ln/>
        </p:spPr>
      </p:sp>
      <p:sp>
        <p:nvSpPr>
          <p:cNvPr id="4" name="Text 2"/>
          <p:cNvSpPr txBox="1"/>
          <p:nvPr/>
        </p:nvSpPr>
        <p:spPr>
          <a:xfrm>
            <a:off x="566928" y="1216152"/>
            <a:ext cx="1078992" cy="1179576"/>
          </a:xfrm>
          <a:prstGeom prst="rect">
            <a:avLst/>
          </a:prstGeom>
          <a:noFill/>
          <a:ln/>
        </p:spPr>
        <p:txBody>
          <a:bodyPr wrap="square" lIns="0" tIns="0" rIns="0" bIns="0" rtlCol="0" anchor="t"/>
          <a:lstStyle/>
          <a:p>
            <a:pPr marL="0" indent="0" algn="l">
              <a:spcAft>
                <a:spcPts val="300"/>
              </a:spcAft>
              <a:buNone/>
            </a:pPr>
            <a:r>
              <a:rPr lang="en-US" sz="1300" b="1" dirty="0">
                <a:solidFill>
                  <a:schemeClr val="tx2"/>
                </a:solidFill>
              </a:rPr>
              <a:t>Load</a:t>
            </a:r>
            <a:endParaRPr lang="en-US" sz="1300" dirty="0"/>
          </a:p>
          <a:p>
            <a:pPr marL="0" indent="0" algn="l">
              <a:spcAft>
                <a:spcPts val="300"/>
              </a:spcAft>
              <a:buNone/>
            </a:pPr>
            <a:r>
              <a:rPr lang="en-US" sz="1000" dirty="0">
                <a:solidFill>
                  <a:schemeClr val="tx1"/>
                </a:solidFill>
              </a:rPr>
              <a:t>case, customer, version, history</a:t>
            </a:r>
            <a:endParaRPr lang="en-US" sz="1300" dirty="0"/>
          </a:p>
        </p:txBody>
      </p:sp>
      <p:sp>
        <p:nvSpPr>
          <p:cNvPr id="5" name="Shape 3"/>
          <p:cNvSpPr/>
          <p:nvPr/>
        </p:nvSpPr>
        <p:spPr>
          <a:xfrm>
            <a:off x="1755648" y="1801368"/>
            <a:ext cx="91440" cy="0"/>
          </a:xfrm>
          <a:prstGeom prst="line">
            <a:avLst/>
          </a:prstGeom>
          <a:noFill/>
          <a:ln w="19050">
            <a:solidFill>
              <a:schemeClr val="accent6"/>
            </a:solidFill>
            <a:prstDash val="solid"/>
            <a:tailEnd type="triangle"/>
          </a:ln>
        </p:spPr>
      </p:sp>
      <p:sp>
        <p:nvSpPr>
          <p:cNvPr id="6" name="Shape 4"/>
          <p:cNvSpPr/>
          <p:nvPr/>
        </p:nvSpPr>
        <p:spPr>
          <a:xfrm>
            <a:off x="1847088" y="1143000"/>
            <a:ext cx="1298448" cy="1325880"/>
          </a:xfrm>
          <a:prstGeom prst="roundRect">
            <a:avLst>
              <a:gd name="adj" fmla="val 5634"/>
            </a:avLst>
          </a:prstGeom>
          <a:solidFill>
            <a:schemeClr val="tx2"/>
          </a:solidFill>
          <a:ln/>
        </p:spPr>
      </p:sp>
      <p:sp>
        <p:nvSpPr>
          <p:cNvPr id="7" name="Text 5"/>
          <p:cNvSpPr txBox="1"/>
          <p:nvPr/>
        </p:nvSpPr>
        <p:spPr>
          <a:xfrm>
            <a:off x="1956816" y="1216152"/>
            <a:ext cx="1078992" cy="1179576"/>
          </a:xfrm>
          <a:prstGeom prst="rect">
            <a:avLst/>
          </a:prstGeom>
          <a:noFill/>
          <a:ln/>
        </p:spPr>
        <p:txBody>
          <a:bodyPr wrap="square" lIns="0" tIns="0" rIns="0" bIns="0" rtlCol="0" anchor="t"/>
          <a:lstStyle/>
          <a:p>
            <a:pPr marL="0" indent="0" algn="l">
              <a:spcAft>
                <a:spcPts val="300"/>
              </a:spcAft>
              <a:buNone/>
            </a:pPr>
            <a:r>
              <a:rPr lang="en-US" sz="1300" b="1" dirty="0">
                <a:solidFill>
                  <a:schemeClr val="accent2"/>
                </a:solidFill>
              </a:rPr>
              <a:t>Intake</a:t>
            </a:r>
            <a:endParaRPr lang="en-US" sz="1300" dirty="0"/>
          </a:p>
          <a:p>
            <a:pPr marL="0" indent="0" algn="l">
              <a:spcAft>
                <a:spcPts val="300"/>
              </a:spcAft>
              <a:buNone/>
            </a:pPr>
            <a:r>
              <a:rPr lang="en-US" sz="1000" dirty="0">
                <a:solidFill>
                  <a:schemeClr val="bg1"/>
                </a:solidFill>
              </a:rPr>
              <a:t>structure the text, find missing info</a:t>
            </a:r>
            <a:endParaRPr lang="en-US" sz="1300" dirty="0"/>
          </a:p>
        </p:txBody>
      </p:sp>
      <p:sp>
        <p:nvSpPr>
          <p:cNvPr id="8" name="Shape 6"/>
          <p:cNvSpPr/>
          <p:nvPr/>
        </p:nvSpPr>
        <p:spPr>
          <a:xfrm>
            <a:off x="3145536" y="1801368"/>
            <a:ext cx="91440" cy="0"/>
          </a:xfrm>
          <a:prstGeom prst="line">
            <a:avLst/>
          </a:prstGeom>
          <a:noFill/>
          <a:ln w="19050">
            <a:solidFill>
              <a:schemeClr val="accent6"/>
            </a:solidFill>
            <a:prstDash val="solid"/>
            <a:tailEnd type="triangle"/>
          </a:ln>
        </p:spPr>
      </p:sp>
      <p:sp>
        <p:nvSpPr>
          <p:cNvPr id="9" name="Shape 7"/>
          <p:cNvSpPr/>
          <p:nvPr/>
        </p:nvSpPr>
        <p:spPr>
          <a:xfrm>
            <a:off x="3236976" y="1143000"/>
            <a:ext cx="1298448" cy="1325880"/>
          </a:xfrm>
          <a:prstGeom prst="roundRect">
            <a:avLst>
              <a:gd name="adj" fmla="val 5634"/>
            </a:avLst>
          </a:prstGeom>
          <a:solidFill>
            <a:schemeClr val="tx2"/>
          </a:solidFill>
          <a:ln/>
        </p:spPr>
      </p:sp>
      <p:sp>
        <p:nvSpPr>
          <p:cNvPr id="10" name="Text 8"/>
          <p:cNvSpPr txBox="1"/>
          <p:nvPr/>
        </p:nvSpPr>
        <p:spPr>
          <a:xfrm>
            <a:off x="3346704" y="1216152"/>
            <a:ext cx="1078992" cy="1179576"/>
          </a:xfrm>
          <a:prstGeom prst="rect">
            <a:avLst/>
          </a:prstGeom>
          <a:noFill/>
          <a:ln/>
        </p:spPr>
        <p:txBody>
          <a:bodyPr wrap="square" lIns="0" tIns="0" rIns="0" bIns="0" rtlCol="0" anchor="t"/>
          <a:lstStyle/>
          <a:p>
            <a:pPr marL="0" indent="0" algn="l">
              <a:spcAft>
                <a:spcPts val="300"/>
              </a:spcAft>
              <a:buNone/>
            </a:pPr>
            <a:r>
              <a:rPr lang="en-US" sz="1300" b="1" dirty="0">
                <a:solidFill>
                  <a:schemeClr val="accent2"/>
                </a:solidFill>
              </a:rPr>
              <a:t>Retrieval</a:t>
            </a:r>
            <a:endParaRPr lang="en-US" sz="1300" dirty="0"/>
          </a:p>
          <a:p>
            <a:pPr marL="0" indent="0" algn="l">
              <a:spcAft>
                <a:spcPts val="300"/>
              </a:spcAft>
              <a:buNone/>
            </a:pPr>
            <a:r>
              <a:rPr lang="en-US" sz="1000" dirty="0">
                <a:solidFill>
                  <a:schemeClr val="bg1"/>
                </a:solidFill>
              </a:rPr>
              <a:t>agent with search tools; reads release notes after an upgrade</a:t>
            </a:r>
            <a:endParaRPr lang="en-US" sz="1300" dirty="0"/>
          </a:p>
        </p:txBody>
      </p:sp>
      <p:sp>
        <p:nvSpPr>
          <p:cNvPr id="11" name="Shape 9"/>
          <p:cNvSpPr/>
          <p:nvPr/>
        </p:nvSpPr>
        <p:spPr>
          <a:xfrm>
            <a:off x="4535424" y="1801368"/>
            <a:ext cx="91440" cy="0"/>
          </a:xfrm>
          <a:prstGeom prst="line">
            <a:avLst/>
          </a:prstGeom>
          <a:noFill/>
          <a:ln w="19050">
            <a:solidFill>
              <a:schemeClr val="accent6"/>
            </a:solidFill>
            <a:prstDash val="solid"/>
            <a:tailEnd type="triangle"/>
          </a:ln>
        </p:spPr>
      </p:sp>
      <p:sp>
        <p:nvSpPr>
          <p:cNvPr id="12" name="Shape 10"/>
          <p:cNvSpPr/>
          <p:nvPr/>
        </p:nvSpPr>
        <p:spPr>
          <a:xfrm>
            <a:off x="4626864" y="1143000"/>
            <a:ext cx="1298448" cy="1325880"/>
          </a:xfrm>
          <a:prstGeom prst="roundRect">
            <a:avLst>
              <a:gd name="adj" fmla="val 5634"/>
            </a:avLst>
          </a:prstGeom>
          <a:solidFill>
            <a:schemeClr val="tx2"/>
          </a:solidFill>
          <a:ln/>
        </p:spPr>
      </p:sp>
      <p:sp>
        <p:nvSpPr>
          <p:cNvPr id="13" name="Text 11"/>
          <p:cNvSpPr txBox="1"/>
          <p:nvPr/>
        </p:nvSpPr>
        <p:spPr>
          <a:xfrm>
            <a:off x="4736592" y="1216152"/>
            <a:ext cx="1078992" cy="1179576"/>
          </a:xfrm>
          <a:prstGeom prst="rect">
            <a:avLst/>
          </a:prstGeom>
          <a:noFill/>
          <a:ln/>
        </p:spPr>
        <p:txBody>
          <a:bodyPr wrap="square" lIns="0" tIns="0" rIns="0" bIns="0" rtlCol="0" anchor="t"/>
          <a:lstStyle/>
          <a:p>
            <a:pPr marL="0" indent="0" algn="l">
              <a:spcAft>
                <a:spcPts val="300"/>
              </a:spcAft>
              <a:buNone/>
            </a:pPr>
            <a:r>
              <a:rPr lang="en-US" sz="1300" b="1" dirty="0">
                <a:solidFill>
                  <a:schemeClr val="accent2"/>
                </a:solidFill>
              </a:rPr>
              <a:t>Applicability</a:t>
            </a:r>
            <a:endParaRPr lang="en-US" sz="1300" dirty="0"/>
          </a:p>
          <a:p>
            <a:pPr marL="0" indent="0" algn="l">
              <a:spcAft>
                <a:spcPts val="300"/>
              </a:spcAft>
              <a:buNone/>
            </a:pPr>
            <a:r>
              <a:rPr lang="en-US" sz="1000" dirty="0">
                <a:solidFill>
                  <a:schemeClr val="bg1"/>
                </a:solidFill>
              </a:rPr>
              <a:t>facts from the database, verdict by the LLM</a:t>
            </a:r>
            <a:endParaRPr lang="en-US" sz="1300" dirty="0"/>
          </a:p>
        </p:txBody>
      </p:sp>
      <p:sp>
        <p:nvSpPr>
          <p:cNvPr id="14" name="Shape 12"/>
          <p:cNvSpPr/>
          <p:nvPr/>
        </p:nvSpPr>
        <p:spPr>
          <a:xfrm>
            <a:off x="5925312" y="1801368"/>
            <a:ext cx="91440" cy="0"/>
          </a:xfrm>
          <a:prstGeom prst="line">
            <a:avLst/>
          </a:prstGeom>
          <a:noFill/>
          <a:ln w="19050">
            <a:solidFill>
              <a:schemeClr val="accent6"/>
            </a:solidFill>
            <a:prstDash val="solid"/>
            <a:tailEnd type="triangle"/>
          </a:ln>
        </p:spPr>
      </p:sp>
      <p:sp>
        <p:nvSpPr>
          <p:cNvPr id="15" name="Shape 13"/>
          <p:cNvSpPr/>
          <p:nvPr/>
        </p:nvSpPr>
        <p:spPr>
          <a:xfrm>
            <a:off x="6016752" y="1143000"/>
            <a:ext cx="1298448" cy="1325880"/>
          </a:xfrm>
          <a:prstGeom prst="roundRect">
            <a:avLst>
              <a:gd name="adj" fmla="val 5634"/>
            </a:avLst>
          </a:prstGeom>
          <a:solidFill>
            <a:schemeClr val="tx2"/>
          </a:solidFill>
          <a:ln/>
        </p:spPr>
      </p:sp>
      <p:sp>
        <p:nvSpPr>
          <p:cNvPr id="16" name="Text 14"/>
          <p:cNvSpPr txBox="1"/>
          <p:nvPr/>
        </p:nvSpPr>
        <p:spPr>
          <a:xfrm>
            <a:off x="6126480" y="1216152"/>
            <a:ext cx="1078992" cy="1179576"/>
          </a:xfrm>
          <a:prstGeom prst="rect">
            <a:avLst/>
          </a:prstGeom>
          <a:noFill/>
          <a:ln/>
        </p:spPr>
        <p:txBody>
          <a:bodyPr wrap="square" lIns="0" tIns="0" rIns="0" bIns="0" rtlCol="0" anchor="t"/>
          <a:lstStyle/>
          <a:p>
            <a:pPr marL="0" indent="0" algn="l">
              <a:spcAft>
                <a:spcPts val="300"/>
              </a:spcAft>
              <a:buNone/>
            </a:pPr>
            <a:r>
              <a:rPr lang="en-US" sz="1300" b="1" dirty="0">
                <a:solidFill>
                  <a:schemeClr val="accent2"/>
                </a:solidFill>
              </a:rPr>
              <a:t>Planner</a:t>
            </a:r>
            <a:endParaRPr lang="en-US" sz="1300" dirty="0"/>
          </a:p>
          <a:p>
            <a:pPr marL="0" indent="0" algn="l">
              <a:spcAft>
                <a:spcPts val="300"/>
              </a:spcAft>
              <a:buNone/>
            </a:pPr>
            <a:r>
              <a:rPr lang="en-US" sz="1000" dirty="0">
                <a:solidFill>
                  <a:schemeClr val="bg1"/>
                </a:solidFill>
              </a:rPr>
              <a:t>hypotheses and next steps with sources</a:t>
            </a:r>
            <a:endParaRPr lang="en-US" sz="1300" dirty="0"/>
          </a:p>
        </p:txBody>
      </p:sp>
      <p:sp>
        <p:nvSpPr>
          <p:cNvPr id="17" name="Shape 15"/>
          <p:cNvSpPr/>
          <p:nvPr/>
        </p:nvSpPr>
        <p:spPr>
          <a:xfrm>
            <a:off x="7315200" y="1801368"/>
            <a:ext cx="91440" cy="0"/>
          </a:xfrm>
          <a:prstGeom prst="line">
            <a:avLst/>
          </a:prstGeom>
          <a:noFill/>
          <a:ln w="19050">
            <a:solidFill>
              <a:schemeClr val="accent6"/>
            </a:solidFill>
            <a:prstDash val="solid"/>
            <a:tailEnd type="triangle"/>
          </a:ln>
        </p:spPr>
      </p:sp>
      <p:sp>
        <p:nvSpPr>
          <p:cNvPr id="18" name="Shape 16"/>
          <p:cNvSpPr/>
          <p:nvPr/>
        </p:nvSpPr>
        <p:spPr>
          <a:xfrm>
            <a:off x="7406640" y="1143000"/>
            <a:ext cx="1298448" cy="1325880"/>
          </a:xfrm>
          <a:prstGeom prst="roundRect">
            <a:avLst>
              <a:gd name="adj" fmla="val 5634"/>
            </a:avLst>
          </a:prstGeom>
          <a:solidFill>
            <a:schemeClr val="bg2"/>
          </a:solidFill>
          <a:ln/>
        </p:spPr>
      </p:sp>
      <p:sp>
        <p:nvSpPr>
          <p:cNvPr id="19" name="Text 17"/>
          <p:cNvSpPr txBox="1"/>
          <p:nvPr/>
        </p:nvSpPr>
        <p:spPr>
          <a:xfrm>
            <a:off x="7516368" y="1216152"/>
            <a:ext cx="1078992" cy="1179576"/>
          </a:xfrm>
          <a:prstGeom prst="rect">
            <a:avLst/>
          </a:prstGeom>
          <a:noFill/>
          <a:ln/>
        </p:spPr>
        <p:txBody>
          <a:bodyPr wrap="square" lIns="0" tIns="0" rIns="0" bIns="0" rtlCol="0" anchor="t"/>
          <a:lstStyle/>
          <a:p>
            <a:pPr marL="0" indent="0" algn="l">
              <a:spcAft>
                <a:spcPts val="300"/>
              </a:spcAft>
              <a:buNone/>
            </a:pPr>
            <a:r>
              <a:rPr lang="en-US" sz="1300" b="1" dirty="0">
                <a:solidFill>
                  <a:schemeClr val="tx2"/>
                </a:solidFill>
              </a:rPr>
              <a:t>Write</a:t>
            </a:r>
            <a:endParaRPr lang="en-US" sz="1300" dirty="0"/>
          </a:p>
          <a:p>
            <a:pPr marL="0" indent="0" algn="l">
              <a:spcAft>
                <a:spcPts val="300"/>
              </a:spcAft>
              <a:buNone/>
            </a:pPr>
            <a:r>
              <a:rPr lang="en-US" sz="1000" dirty="0">
                <a:solidFill>
                  <a:schemeClr val="tx1"/>
                </a:solidFill>
              </a:rPr>
              <a:t>suggestions into Directus</a:t>
            </a:r>
            <a:endParaRPr lang="en-US" sz="1300" dirty="0"/>
          </a:p>
        </p:txBody>
      </p:sp>
      <p:sp>
        <p:nvSpPr>
          <p:cNvPr id="20" name="Text 18"/>
          <p:cNvSpPr txBox="1"/>
          <p:nvPr/>
        </p:nvSpPr>
        <p:spPr>
          <a:xfrm>
            <a:off x="457200" y="2560320"/>
            <a:ext cx="8229600" cy="274320"/>
          </a:xfrm>
          <a:prstGeom prst="rect">
            <a:avLst/>
          </a:prstGeom>
          <a:noFill/>
          <a:ln/>
        </p:spPr>
        <p:txBody>
          <a:bodyPr wrap="square" lIns="0" tIns="0" rIns="0" bIns="0" rtlCol="0" anchor="t"/>
          <a:lstStyle/>
          <a:p>
            <a:pPr marL="0" indent="0">
              <a:buNone/>
            </a:pPr>
            <a:endParaRPr lang="en-US" sz="1100" dirty="0"/>
          </a:p>
        </p:txBody>
      </p:sp>
      <p:sp>
        <p:nvSpPr>
          <p:cNvPr id="21" name="Shape 19"/>
          <p:cNvSpPr/>
          <p:nvPr/>
        </p:nvSpPr>
        <p:spPr>
          <a:xfrm>
            <a:off x="457200" y="2971800"/>
            <a:ext cx="2651760" cy="1600200"/>
          </a:xfrm>
          <a:prstGeom prst="roundRect">
            <a:avLst>
              <a:gd name="adj" fmla="val 4571"/>
            </a:avLst>
          </a:prstGeom>
          <a:solidFill>
            <a:schemeClr val="bg2"/>
          </a:solidFill>
          <a:ln/>
        </p:spPr>
      </p:sp>
      <p:sp>
        <p:nvSpPr>
          <p:cNvPr id="22" name="Text 20"/>
          <p:cNvSpPr txBox="1"/>
          <p:nvPr/>
        </p:nvSpPr>
        <p:spPr>
          <a:xfrm>
            <a:off x="566928" y="3044952"/>
            <a:ext cx="2432304" cy="145389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Three more graphs</a:t>
            </a:r>
            <a:endParaRPr lang="en-US" sz="1400" dirty="0"/>
          </a:p>
          <a:p>
            <a:pPr marL="0" indent="0" algn="l">
              <a:spcAft>
                <a:spcPts val="300"/>
              </a:spcAft>
              <a:buNone/>
            </a:pPr>
            <a:r>
              <a:rPr lang="en-US" sz="1100" dirty="0">
                <a:solidFill>
                  <a:schemeClr val="tx1"/>
                </a:solidFill>
              </a:rPr>
              <a:t>Investigation guide: re-plans from the log</a:t>
            </a:r>
            <a:endParaRPr lang="en-US" sz="1400" dirty="0"/>
          </a:p>
          <a:p>
            <a:pPr marL="0" indent="0" algn="l">
              <a:spcAft>
                <a:spcPts val="300"/>
              </a:spcAft>
              <a:buNone/>
            </a:pPr>
            <a:r>
              <a:rPr lang="en-US" sz="1100" dirty="0">
                <a:solidFill>
                  <a:schemeClr val="tx1"/>
                </a:solidFill>
              </a:rPr>
              <a:t>Knowledge capture: link, update or create</a:t>
            </a:r>
            <a:endParaRPr lang="en-US" sz="1400" dirty="0"/>
          </a:p>
          <a:p>
            <a:pPr marL="0" indent="0" algn="l">
              <a:spcAft>
                <a:spcPts val="300"/>
              </a:spcAft>
              <a:buNone/>
            </a:pPr>
            <a:r>
              <a:rPr lang="en-US" sz="1100" dirty="0">
                <a:solidFill>
                  <a:schemeClr val="tx1"/>
                </a:solidFill>
              </a:rPr>
              <a:t>Problem detection: clusters open cases nightly</a:t>
            </a:r>
            <a:endParaRPr lang="en-US" sz="1400" dirty="0"/>
          </a:p>
        </p:txBody>
      </p:sp>
      <p:sp>
        <p:nvSpPr>
          <p:cNvPr id="23" name="Shape 21"/>
          <p:cNvSpPr/>
          <p:nvPr/>
        </p:nvSpPr>
        <p:spPr>
          <a:xfrm>
            <a:off x="3246120" y="2971800"/>
            <a:ext cx="2651760" cy="1600200"/>
          </a:xfrm>
          <a:prstGeom prst="roundRect">
            <a:avLst>
              <a:gd name="adj" fmla="val 4571"/>
            </a:avLst>
          </a:prstGeom>
          <a:solidFill>
            <a:schemeClr val="bg2"/>
          </a:solidFill>
          <a:ln/>
        </p:spPr>
      </p:sp>
      <p:sp>
        <p:nvSpPr>
          <p:cNvPr id="24" name="Text 22"/>
          <p:cNvSpPr txBox="1"/>
          <p:nvPr/>
        </p:nvSpPr>
        <p:spPr>
          <a:xfrm>
            <a:off x="3355848" y="3044952"/>
            <a:ext cx="2432304" cy="145389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Guardrails</a:t>
            </a:r>
            <a:endParaRPr lang="en-US" sz="1400" dirty="0"/>
          </a:p>
          <a:p>
            <a:pPr marL="0" indent="0" algn="l">
              <a:spcAft>
                <a:spcPts val="300"/>
              </a:spcAft>
              <a:buNone/>
            </a:pPr>
            <a:r>
              <a:rPr lang="en-US" sz="1100" dirty="0">
                <a:solidFill>
                  <a:schemeClr val="tx1"/>
                </a:solidFill>
              </a:rPr>
              <a:t>Customer text treated as untrusted data</a:t>
            </a:r>
            <a:endParaRPr lang="en-US" sz="1400" dirty="0"/>
          </a:p>
          <a:p>
            <a:pPr marL="0" indent="0" algn="l">
              <a:spcAft>
                <a:spcPts val="300"/>
              </a:spcAft>
              <a:buNone/>
            </a:pPr>
            <a:r>
              <a:rPr lang="en-US" sz="1100" dirty="0">
                <a:solidFill>
                  <a:schemeClr val="tx1"/>
                </a:solidFill>
              </a:rPr>
              <a:t>Personal data masked before the LLM</a:t>
            </a:r>
            <a:endParaRPr lang="en-US" sz="1400" dirty="0"/>
          </a:p>
          <a:p>
            <a:pPr marL="0" indent="0" algn="l">
              <a:spcAft>
                <a:spcPts val="300"/>
              </a:spcAft>
              <a:buNone/>
            </a:pPr>
            <a:r>
              <a:rPr lang="en-US" sz="1100" dirty="0">
                <a:solidFill>
                  <a:schemeClr val="tx1"/>
                </a:solidFill>
              </a:rPr>
              <a:t>Only cites what it actually retrieved</a:t>
            </a:r>
            <a:endParaRPr lang="en-US" sz="1400" dirty="0"/>
          </a:p>
          <a:p>
            <a:pPr marL="0" indent="0" algn="l">
              <a:spcAft>
                <a:spcPts val="300"/>
              </a:spcAft>
              <a:buNone/>
            </a:pPr>
            <a:r>
              <a:rPr lang="en-US" sz="1100" dirty="0">
                <a:solidFill>
                  <a:schemeClr val="tx1"/>
                </a:solidFill>
              </a:rPr>
              <a:t>Says so when nothing fits</a:t>
            </a:r>
            <a:endParaRPr lang="en-US" sz="1400" dirty="0"/>
          </a:p>
        </p:txBody>
      </p:sp>
      <p:sp>
        <p:nvSpPr>
          <p:cNvPr id="25" name="Shape 23"/>
          <p:cNvSpPr/>
          <p:nvPr/>
        </p:nvSpPr>
        <p:spPr>
          <a:xfrm>
            <a:off x="6035040" y="2971800"/>
            <a:ext cx="2651760" cy="1600200"/>
          </a:xfrm>
          <a:prstGeom prst="roundRect">
            <a:avLst>
              <a:gd name="adj" fmla="val 4571"/>
            </a:avLst>
          </a:prstGeom>
          <a:solidFill>
            <a:schemeClr val="bg2"/>
          </a:solidFill>
          <a:ln/>
        </p:spPr>
      </p:sp>
      <p:sp>
        <p:nvSpPr>
          <p:cNvPr id="26" name="Text 24"/>
          <p:cNvSpPr txBox="1"/>
          <p:nvPr/>
        </p:nvSpPr>
        <p:spPr>
          <a:xfrm>
            <a:off x="6144768" y="3044952"/>
            <a:ext cx="2432304" cy="145389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Transparent</a:t>
            </a:r>
            <a:endParaRPr lang="en-US" sz="1400" dirty="0"/>
          </a:p>
          <a:p>
            <a:pPr marL="0" indent="0" algn="l">
              <a:spcAft>
                <a:spcPts val="300"/>
              </a:spcAft>
              <a:buNone/>
            </a:pPr>
            <a:r>
              <a:rPr lang="en-US" sz="1100" dirty="0">
                <a:solidFill>
                  <a:schemeClr val="tx1"/>
                </a:solidFill>
              </a:rPr>
              <a:t>Every step is stored and shown live in the workspace, with the model, number of LLM calls and duration</a:t>
            </a:r>
            <a:endParaRPr lang="en-US" sz="1400" dirty="0"/>
          </a:p>
        </p:txBody>
      </p:sp>
      <p:sp>
        <p:nvSpPr>
          <p:cNvPr id="27"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rPr>
              <a:t>What I implemented</a:t>
            </a:r>
            <a:endParaRPr lang="en-US" sz="2800" dirty="0"/>
          </a:p>
        </p:txBody>
      </p:sp>
      <p:sp>
        <p:nvSpPr>
          <p:cNvPr id="3" name="Text 1"/>
          <p:cNvSpPr txBox="1"/>
          <p:nvPr/>
        </p:nvSpPr>
        <p:spPr>
          <a:xfrm>
            <a:off x="457200" y="1051560"/>
            <a:ext cx="1920240" cy="1005840"/>
          </a:xfrm>
          <a:prstGeom prst="rect">
            <a:avLst/>
          </a:prstGeom>
          <a:noFill/>
          <a:ln/>
        </p:spPr>
        <p:txBody>
          <a:bodyPr wrap="square" lIns="0" tIns="0" rIns="0" bIns="0" rtlCol="0" anchor="t"/>
          <a:lstStyle/>
          <a:p>
            <a:pPr marL="0" indent="0">
              <a:buNone/>
            </a:pPr>
            <a:r>
              <a:rPr lang="en-US" sz="4000" b="1" dirty="0">
                <a:solidFill>
                  <a:schemeClr val="tx2"/>
                </a:solidFill>
              </a:rPr>
              <a:t>78</a:t>
            </a:r>
            <a:endParaRPr lang="en-US" sz="1300" dirty="0"/>
          </a:p>
          <a:p>
            <a:pPr marL="0" indent="0">
              <a:buNone/>
            </a:pPr>
            <a:r>
              <a:rPr lang="en-US" sz="1200" dirty="0">
                <a:solidFill>
                  <a:schemeClr val="accent6"/>
                </a:solidFill>
              </a:rPr>
              <a:t>historical cases</a:t>
            </a:r>
            <a:endParaRPr lang="en-US" sz="1300" dirty="0"/>
          </a:p>
        </p:txBody>
      </p:sp>
      <p:sp>
        <p:nvSpPr>
          <p:cNvPr id="4" name="Text 2"/>
          <p:cNvSpPr txBox="1"/>
          <p:nvPr/>
        </p:nvSpPr>
        <p:spPr>
          <a:xfrm>
            <a:off x="2560320" y="1051560"/>
            <a:ext cx="1920240" cy="1005840"/>
          </a:xfrm>
          <a:prstGeom prst="rect">
            <a:avLst/>
          </a:prstGeom>
          <a:noFill/>
          <a:ln/>
        </p:spPr>
        <p:txBody>
          <a:bodyPr wrap="square" lIns="0" tIns="0" rIns="0" bIns="0" rtlCol="0" anchor="t"/>
          <a:lstStyle/>
          <a:p>
            <a:pPr marL="0" indent="0">
              <a:buNone/>
            </a:pPr>
            <a:r>
              <a:rPr lang="en-US" sz="4000" b="1" dirty="0">
                <a:solidFill>
                  <a:schemeClr val="tx2"/>
                </a:solidFill>
              </a:rPr>
              <a:t>27</a:t>
            </a:r>
            <a:endParaRPr lang="en-US" sz="1300" dirty="0"/>
          </a:p>
          <a:p>
            <a:pPr marL="0" indent="0">
              <a:buNone/>
            </a:pPr>
            <a:r>
              <a:rPr lang="en-US" sz="1200" dirty="0">
                <a:solidFill>
                  <a:schemeClr val="accent6"/>
                </a:solidFill>
              </a:rPr>
              <a:t>solutions</a:t>
            </a:r>
            <a:endParaRPr lang="en-US" sz="1300" dirty="0"/>
          </a:p>
        </p:txBody>
      </p:sp>
      <p:sp>
        <p:nvSpPr>
          <p:cNvPr id="5" name="Text 3"/>
          <p:cNvSpPr txBox="1"/>
          <p:nvPr/>
        </p:nvSpPr>
        <p:spPr>
          <a:xfrm>
            <a:off x="4663440" y="1051560"/>
            <a:ext cx="1920240" cy="1005840"/>
          </a:xfrm>
          <a:prstGeom prst="rect">
            <a:avLst/>
          </a:prstGeom>
          <a:noFill/>
          <a:ln/>
        </p:spPr>
        <p:txBody>
          <a:bodyPr wrap="square" lIns="0" tIns="0" rIns="0" bIns="0" rtlCol="0" anchor="t"/>
          <a:lstStyle/>
          <a:p>
            <a:pPr marL="0" indent="0">
              <a:buNone/>
            </a:pPr>
            <a:r>
              <a:rPr lang="en-US" sz="4000" b="1" dirty="0">
                <a:solidFill>
                  <a:schemeClr val="tx2"/>
                </a:solidFill>
              </a:rPr>
              <a:t>12</a:t>
            </a:r>
            <a:endParaRPr lang="en-US" sz="1300" dirty="0"/>
          </a:p>
          <a:p>
            <a:pPr marL="0" indent="0">
              <a:buNone/>
            </a:pPr>
            <a:r>
              <a:rPr lang="en-US" sz="1200" dirty="0">
                <a:solidFill>
                  <a:schemeClr val="accent6"/>
                </a:solidFill>
              </a:rPr>
              <a:t>customers, EPIM 8.0 to 9.2</a:t>
            </a:r>
            <a:endParaRPr lang="en-US" sz="1300" dirty="0"/>
          </a:p>
        </p:txBody>
      </p:sp>
      <p:sp>
        <p:nvSpPr>
          <p:cNvPr id="6" name="Text 4"/>
          <p:cNvSpPr txBox="1"/>
          <p:nvPr/>
        </p:nvSpPr>
        <p:spPr>
          <a:xfrm>
            <a:off x="6766560" y="1051560"/>
            <a:ext cx="1920240" cy="1005840"/>
          </a:xfrm>
          <a:prstGeom prst="rect">
            <a:avLst/>
          </a:prstGeom>
          <a:noFill/>
          <a:ln/>
        </p:spPr>
        <p:txBody>
          <a:bodyPr wrap="square" lIns="0" tIns="0" rIns="0" bIns="0" rtlCol="0" anchor="t"/>
          <a:lstStyle/>
          <a:p>
            <a:pPr marL="0" indent="0">
              <a:buNone/>
            </a:pPr>
            <a:r>
              <a:rPr lang="en-US" sz="4000" b="1" dirty="0">
                <a:solidFill>
                  <a:schemeClr val="tx2"/>
                </a:solidFill>
              </a:rPr>
              <a:t>4</a:t>
            </a:r>
            <a:endParaRPr lang="en-US" sz="1300" dirty="0"/>
          </a:p>
          <a:p>
            <a:pPr marL="0" indent="0">
              <a:buNone/>
            </a:pPr>
            <a:r>
              <a:rPr lang="en-US" sz="1200" dirty="0">
                <a:solidFill>
                  <a:schemeClr val="accent6"/>
                </a:solidFill>
              </a:rPr>
              <a:t>agent graphs</a:t>
            </a:r>
            <a:endParaRPr lang="en-US" sz="1300" dirty="0"/>
          </a:p>
        </p:txBody>
      </p:sp>
      <p:sp>
        <p:nvSpPr>
          <p:cNvPr id="7" name="Shape 5"/>
          <p:cNvSpPr/>
          <p:nvPr/>
        </p:nvSpPr>
        <p:spPr>
          <a:xfrm>
            <a:off x="457200" y="2377440"/>
            <a:ext cx="4023360" cy="1920240"/>
          </a:xfrm>
          <a:prstGeom prst="roundRect">
            <a:avLst>
              <a:gd name="adj" fmla="val 3810"/>
            </a:avLst>
          </a:prstGeom>
          <a:solidFill>
            <a:schemeClr val="bg2"/>
          </a:solidFill>
          <a:ln/>
        </p:spPr>
      </p:sp>
      <p:sp>
        <p:nvSpPr>
          <p:cNvPr id="8" name="Text 6"/>
          <p:cNvSpPr txBox="1"/>
          <p:nvPr/>
        </p:nvSpPr>
        <p:spPr>
          <a:xfrm>
            <a:off x="566928" y="2450592"/>
            <a:ext cx="3803904" cy="177393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Working end to end</a:t>
            </a:r>
            <a:endParaRPr lang="en-US" sz="1400" dirty="0"/>
          </a:p>
          <a:p>
            <a:pPr marL="0" indent="0" algn="l">
              <a:spcAft>
                <a:spcPts val="300"/>
              </a:spcAft>
              <a:buNone/>
            </a:pPr>
            <a:r>
              <a:rPr lang="en-US" sz="1200" dirty="0">
                <a:solidFill>
                  <a:schemeClr val="tx1"/>
                </a:solidFill>
              </a:rPr>
              <a:t>New case in the Engineer Workspace, Flow starts the agents, live trace, ranked solutions with verdicts, hypotheses, next steps, customer questions, ask the case, resolve, knowledge review, track record updated, re-indexed. Problem detection on the Problems page.</a:t>
            </a:r>
            <a:endParaRPr lang="en-US" sz="1400" dirty="0"/>
          </a:p>
        </p:txBody>
      </p:sp>
      <p:sp>
        <p:nvSpPr>
          <p:cNvPr id="9" name="Shape 7"/>
          <p:cNvSpPr/>
          <p:nvPr/>
        </p:nvSpPr>
        <p:spPr>
          <a:xfrm>
            <a:off x="4663440" y="2377440"/>
            <a:ext cx="4023360" cy="1920240"/>
          </a:xfrm>
          <a:prstGeom prst="roundRect">
            <a:avLst>
              <a:gd name="adj" fmla="val 3810"/>
            </a:avLst>
          </a:prstGeom>
          <a:solidFill>
            <a:schemeClr val="tx2"/>
          </a:solidFill>
          <a:ln/>
        </p:spPr>
      </p:sp>
      <p:sp>
        <p:nvSpPr>
          <p:cNvPr id="10" name="Text 8"/>
          <p:cNvSpPr txBox="1"/>
          <p:nvPr/>
        </p:nvSpPr>
        <p:spPr>
          <a:xfrm>
            <a:off x="4773168" y="2450592"/>
            <a:ext cx="3803904" cy="1773936"/>
          </a:xfrm>
          <a:prstGeom prst="rect">
            <a:avLst/>
          </a:prstGeom>
          <a:noFill/>
          <a:ln/>
        </p:spPr>
        <p:txBody>
          <a:bodyPr wrap="square" lIns="0" tIns="0" rIns="0" bIns="0" rtlCol="0" anchor="t"/>
          <a:lstStyle/>
          <a:p>
            <a:pPr marL="0" indent="0" algn="l">
              <a:spcAft>
                <a:spcPts val="300"/>
              </a:spcAft>
              <a:buNone/>
            </a:pPr>
            <a:r>
              <a:rPr lang="en-US" sz="1400" b="1" dirty="0">
                <a:solidFill>
                  <a:schemeClr val="accent2"/>
                </a:solidFill>
              </a:rPr>
              <a:t>The brief's example, live</a:t>
            </a:r>
            <a:endParaRPr lang="en-US" sz="1400" dirty="0"/>
          </a:p>
          <a:p>
            <a:pPr marL="0" indent="0" algn="l">
              <a:spcAft>
                <a:spcPts val="300"/>
              </a:spcAft>
              <a:buNone/>
            </a:pPr>
            <a:r>
              <a:rPr lang="en-US" sz="1200" dirty="0">
                <a:solidFill>
                  <a:schemeClr val="bg1"/>
                </a:solidFill>
              </a:rPr>
              <a:t>Rheinwerk upgraded 9.0 to 9.1. The agent found the workflow syntax change and ranked SOL-016 first. It marked the "full export" fix SOL-001 as not applicable: it is for 8.x and already failed for this customer on 9.0.</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rPr>
              <a:t>What I would build next</a:t>
            </a:r>
            <a:endParaRPr lang="en-US" sz="2800" dirty="0"/>
          </a:p>
        </p:txBody>
      </p:sp>
      <p:sp>
        <p:nvSpPr>
          <p:cNvPr id="3" name="Shape 1"/>
          <p:cNvSpPr/>
          <p:nvPr/>
        </p:nvSpPr>
        <p:spPr>
          <a:xfrm>
            <a:off x="457200" y="1143000"/>
            <a:ext cx="2606040" cy="1325880"/>
          </a:xfrm>
          <a:prstGeom prst="roundRect">
            <a:avLst>
              <a:gd name="adj" fmla="val 5517"/>
            </a:avLst>
          </a:prstGeom>
          <a:solidFill>
            <a:schemeClr val="bg2"/>
          </a:solidFill>
          <a:ln/>
        </p:spPr>
      </p:sp>
      <p:sp>
        <p:nvSpPr>
          <p:cNvPr id="4" name="Text 2"/>
          <p:cNvSpPr txBox="1"/>
          <p:nvPr/>
        </p:nvSpPr>
        <p:spPr>
          <a:xfrm>
            <a:off x="566928" y="1216152"/>
            <a:ext cx="2386584" cy="117957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Measure it</a:t>
            </a:r>
            <a:endParaRPr lang="en-US" sz="1400" dirty="0"/>
          </a:p>
          <a:p>
            <a:pPr marL="0" indent="0" algn="l">
              <a:spcAft>
                <a:spcPts val="300"/>
              </a:spcAft>
              <a:buNone/>
            </a:pPr>
            <a:r>
              <a:rPr lang="en-US" sz="1100" dirty="0">
                <a:solidFill>
                  <a:schemeClr val="tx1"/>
                </a:solidFill>
              </a:rPr>
              <a:t>Run the retrieval evaluation on the 18 held-out cases and track hit rate per release</a:t>
            </a:r>
            <a:endParaRPr lang="en-US" sz="1400" dirty="0"/>
          </a:p>
        </p:txBody>
      </p:sp>
      <p:sp>
        <p:nvSpPr>
          <p:cNvPr id="5" name="Shape 3"/>
          <p:cNvSpPr/>
          <p:nvPr/>
        </p:nvSpPr>
        <p:spPr>
          <a:xfrm>
            <a:off x="3246120" y="1143000"/>
            <a:ext cx="2606040" cy="1325880"/>
          </a:xfrm>
          <a:prstGeom prst="roundRect">
            <a:avLst>
              <a:gd name="adj" fmla="val 5517"/>
            </a:avLst>
          </a:prstGeom>
          <a:solidFill>
            <a:schemeClr val="bg2"/>
          </a:solidFill>
          <a:ln/>
        </p:spPr>
      </p:sp>
      <p:sp>
        <p:nvSpPr>
          <p:cNvPr id="6" name="Text 4"/>
          <p:cNvSpPr txBox="1"/>
          <p:nvPr/>
        </p:nvSpPr>
        <p:spPr>
          <a:xfrm>
            <a:off x="3355848" y="1216152"/>
            <a:ext cx="2386584" cy="117957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Real intake</a:t>
            </a:r>
            <a:endParaRPr lang="en-US" sz="1400" dirty="0"/>
          </a:p>
          <a:p>
            <a:pPr marL="0" indent="0" algn="l">
              <a:spcAft>
                <a:spcPts val="300"/>
              </a:spcAft>
              <a:buNone/>
            </a:pPr>
            <a:r>
              <a:rPr lang="en-US" sz="1100" dirty="0">
                <a:solidFill>
                  <a:schemeClr val="tx1"/>
                </a:solidFill>
              </a:rPr>
              <a:t>E-mail and portal intake, attachments and log files analysed by the agent</a:t>
            </a:r>
            <a:endParaRPr lang="en-US" sz="1400" dirty="0"/>
          </a:p>
        </p:txBody>
      </p:sp>
      <p:sp>
        <p:nvSpPr>
          <p:cNvPr id="7" name="Shape 5"/>
          <p:cNvSpPr/>
          <p:nvPr/>
        </p:nvSpPr>
        <p:spPr>
          <a:xfrm>
            <a:off x="6035040" y="1143000"/>
            <a:ext cx="2606040" cy="1325880"/>
          </a:xfrm>
          <a:prstGeom prst="roundRect">
            <a:avLst>
              <a:gd name="adj" fmla="val 5517"/>
            </a:avLst>
          </a:prstGeom>
          <a:solidFill>
            <a:schemeClr val="bg2"/>
          </a:solidFill>
          <a:ln/>
        </p:spPr>
      </p:sp>
      <p:sp>
        <p:nvSpPr>
          <p:cNvPr id="8" name="Text 6"/>
          <p:cNvSpPr txBox="1"/>
          <p:nvPr/>
        </p:nvSpPr>
        <p:spPr>
          <a:xfrm>
            <a:off x="6144768" y="1216152"/>
            <a:ext cx="2386584" cy="117957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Learn from feedback</a:t>
            </a:r>
            <a:endParaRPr lang="en-US" sz="1400" dirty="0"/>
          </a:p>
          <a:p>
            <a:pPr marL="0" indent="0" algn="l">
              <a:spcAft>
                <a:spcPts val="300"/>
              </a:spcAft>
              <a:buNone/>
            </a:pPr>
            <a:r>
              <a:rPr lang="en-US" sz="1100" dirty="0">
                <a:solidFill>
                  <a:schemeClr val="tx1"/>
                </a:solidFill>
              </a:rPr>
              <a:t>Use rejected suggestions and their notes to tune ranking and prompts</a:t>
            </a:r>
            <a:endParaRPr lang="en-US" sz="1400" dirty="0"/>
          </a:p>
        </p:txBody>
      </p:sp>
      <p:sp>
        <p:nvSpPr>
          <p:cNvPr id="9" name="Shape 7"/>
          <p:cNvSpPr/>
          <p:nvPr/>
        </p:nvSpPr>
        <p:spPr>
          <a:xfrm>
            <a:off x="457200" y="2606040"/>
            <a:ext cx="2606040" cy="1325880"/>
          </a:xfrm>
          <a:prstGeom prst="roundRect">
            <a:avLst>
              <a:gd name="adj" fmla="val 5517"/>
            </a:avLst>
          </a:prstGeom>
          <a:solidFill>
            <a:schemeClr val="bg1"/>
          </a:solidFill>
          <a:ln w="12700">
            <a:solidFill>
              <a:schemeClr val="accent4"/>
            </a:solidFill>
            <a:prstDash val="solid"/>
          </a:ln>
        </p:spPr>
      </p:sp>
      <p:sp>
        <p:nvSpPr>
          <p:cNvPr id="10" name="Text 8"/>
          <p:cNvSpPr txBox="1"/>
          <p:nvPr/>
        </p:nvSpPr>
        <p:spPr>
          <a:xfrm>
            <a:off x="566928" y="2679192"/>
            <a:ext cx="2386584" cy="117957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Connect the source systems</a:t>
            </a:r>
            <a:endParaRPr lang="en-US" sz="1400" dirty="0"/>
          </a:p>
          <a:p>
            <a:pPr marL="0" indent="0" algn="l">
              <a:spcAft>
                <a:spcPts val="300"/>
              </a:spcAft>
              <a:buNone/>
            </a:pPr>
            <a:r>
              <a:rPr lang="en-US" sz="1100" dirty="0">
                <a:solidFill>
                  <a:schemeClr val="tx1"/>
                </a:solidFill>
              </a:rPr>
              <a:t>Read versions and configuration directly from customer environments</a:t>
            </a:r>
            <a:endParaRPr lang="en-US" sz="1400" dirty="0"/>
          </a:p>
        </p:txBody>
      </p:sp>
      <p:sp>
        <p:nvSpPr>
          <p:cNvPr id="11" name="Shape 9"/>
          <p:cNvSpPr/>
          <p:nvPr/>
        </p:nvSpPr>
        <p:spPr>
          <a:xfrm>
            <a:off x="3246120" y="2606040"/>
            <a:ext cx="2606040" cy="1325880"/>
          </a:xfrm>
          <a:prstGeom prst="roundRect">
            <a:avLst>
              <a:gd name="adj" fmla="val 5517"/>
            </a:avLst>
          </a:prstGeom>
          <a:solidFill>
            <a:schemeClr val="bg1"/>
          </a:solidFill>
          <a:ln w="12700">
            <a:solidFill>
              <a:schemeClr val="accent4"/>
            </a:solidFill>
            <a:prstDash val="solid"/>
          </a:ln>
        </p:spPr>
      </p:sp>
      <p:sp>
        <p:nvSpPr>
          <p:cNvPr id="12" name="Text 10"/>
          <p:cNvSpPr txBox="1"/>
          <p:nvPr/>
        </p:nvSpPr>
        <p:spPr>
          <a:xfrm>
            <a:off x="3355848" y="2679192"/>
            <a:ext cx="2386584" cy="117957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Knowledge health</a:t>
            </a:r>
            <a:endParaRPr lang="en-US" sz="1400" dirty="0"/>
          </a:p>
          <a:p>
            <a:pPr marL="0" indent="0" algn="l">
              <a:spcAft>
                <a:spcPts val="300"/>
              </a:spcAft>
              <a:buNone/>
            </a:pPr>
            <a:r>
              <a:rPr lang="en-US" sz="1100" dirty="0">
                <a:solidFill>
                  <a:schemeClr val="tx1"/>
                </a:solidFill>
              </a:rPr>
              <a:t>Flag solutions that start failing after a new release and send them for review</a:t>
            </a:r>
            <a:endParaRPr lang="en-US" sz="1400" dirty="0"/>
          </a:p>
        </p:txBody>
      </p:sp>
      <p:sp>
        <p:nvSpPr>
          <p:cNvPr id="13" name="Shape 11"/>
          <p:cNvSpPr/>
          <p:nvPr/>
        </p:nvSpPr>
        <p:spPr>
          <a:xfrm>
            <a:off x="6035040" y="2606040"/>
            <a:ext cx="2606040" cy="1325880"/>
          </a:xfrm>
          <a:prstGeom prst="roundRect">
            <a:avLst>
              <a:gd name="adj" fmla="val 5517"/>
            </a:avLst>
          </a:prstGeom>
          <a:solidFill>
            <a:schemeClr val="bg1"/>
          </a:solidFill>
          <a:ln w="12700">
            <a:solidFill>
              <a:schemeClr val="accent4"/>
            </a:solidFill>
            <a:prstDash val="solid"/>
          </a:ln>
        </p:spPr>
      </p:sp>
      <p:sp>
        <p:nvSpPr>
          <p:cNvPr id="14" name="Text 12"/>
          <p:cNvSpPr txBox="1"/>
          <p:nvPr/>
        </p:nvSpPr>
        <p:spPr>
          <a:xfrm>
            <a:off x="6144768" y="2679192"/>
            <a:ext cx="2386584" cy="1179576"/>
          </a:xfrm>
          <a:prstGeom prst="rect">
            <a:avLst/>
          </a:prstGeom>
          <a:noFill/>
          <a:ln/>
        </p:spPr>
        <p:txBody>
          <a:bodyPr wrap="square" lIns="0" tIns="0" rIns="0" bIns="0" rtlCol="0" anchor="t"/>
          <a:lstStyle/>
          <a:p>
            <a:pPr marL="0" indent="0" algn="l">
              <a:spcAft>
                <a:spcPts val="300"/>
              </a:spcAft>
              <a:buNone/>
            </a:pPr>
            <a:r>
              <a:rPr lang="en-US" sz="1400" b="1" dirty="0">
                <a:solidFill>
                  <a:schemeClr val="tx2"/>
                </a:solidFill>
              </a:rPr>
              <a:t>Production</a:t>
            </a:r>
            <a:endParaRPr lang="en-US" sz="1400" dirty="0"/>
          </a:p>
          <a:p>
            <a:pPr marL="0" indent="0" algn="l">
              <a:spcAft>
                <a:spcPts val="300"/>
              </a:spcAft>
              <a:buNone/>
            </a:pPr>
            <a:r>
              <a:rPr lang="en-US" sz="1100" dirty="0">
                <a:solidFill>
                  <a:schemeClr val="tx1"/>
                </a:solidFill>
              </a:rPr>
              <a:t>SSO, audit export, hosted models with data agreements, monitoring</a:t>
            </a:r>
            <a:endParaRPr lang="en-US" sz="1400" dirty="0"/>
          </a:p>
        </p:txBody>
      </p:sp>
      <p:sp>
        <p:nvSpPr>
          <p:cNvPr id="15" name="Text 13"/>
          <p:cNvSpPr txBox="1"/>
          <p:nvPr/>
        </p:nvSpPr>
        <p:spPr>
          <a:xfrm>
            <a:off x="457200" y="4251960"/>
            <a:ext cx="8229600" cy="320040"/>
          </a:xfrm>
          <a:prstGeom prst="rect">
            <a:avLst/>
          </a:prstGeom>
          <a:noFill/>
          <a:ln/>
        </p:spPr>
        <p:txBody>
          <a:bodyPr wrap="square" lIns="0" tIns="0" rIns="0" bIns="0" rtlCol="0" anchor="t"/>
          <a:lstStyle/>
          <a:p>
            <a:pPr marL="0" indent="0">
              <a:buNone/>
            </a:pPr>
            <a:r>
              <a:rPr lang="en-US" sz="1300" b="1" dirty="0">
                <a:solidFill>
                  <a:schemeClr val="accent3"/>
                </a:solidFill>
              </a:rPr>
              <a:t>github.com/Maithiliii/viamedici-solution-platform</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SEP">
  <a:themeElements>
    <a:clrScheme name="SEP">
      <a:dk1>
        <a:srgbClr val="1B2B2C"/>
      </a:dk1>
      <a:lt1>
        <a:srgbClr val="FFFFFF"/>
      </a:lt1>
      <a:dk2>
        <a:srgbClr val="0F3D3E"/>
      </a:dk2>
      <a:lt2>
        <a:srgbClr val="EEF4F3"/>
      </a:lt2>
      <a:accent1>
        <a:srgbClr val="0F3D3E"/>
      </a:accent1>
      <a:accent2>
        <a:srgbClr val="F2A541"/>
      </a:accent2>
      <a:accent3>
        <a:srgbClr val="3E7C78"/>
      </a:accent3>
      <a:accent4>
        <a:srgbClr val="C8DCD9"/>
      </a:accent4>
      <a:accent5>
        <a:srgbClr val="B5462F"/>
      </a:accent5>
      <a:accent6>
        <a:srgbClr val="6B7B7C"/>
      </a:accent6>
      <a:hlink>
        <a:srgbClr val="3E7C78"/>
      </a:hlink>
      <a:folHlink>
        <a:srgbClr val="6B7B7C"/>
      </a:folHlink>
    </a:clrScheme>
    <a:fontScheme name="SE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1631</Words>
  <Application>Microsoft Office PowerPoint</Application>
  <PresentationFormat>On-screen Show (16:9)</PresentationFormat>
  <Paragraphs>180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SEP</vt:lpstr>
      <vt:lpstr>Solution Enablement Platform</vt:lpstr>
      <vt:lpstr>The knowledge exists, but it isn't reused</vt:lpstr>
      <vt:lpstr>What I researched</vt:lpstr>
      <vt:lpstr>What I designed: a closed knowledge loop</vt:lpstr>
      <vt:lpstr>Why I designed it this way</vt:lpstr>
      <vt:lpstr>Architecture</vt:lpstr>
      <vt:lpstr>Data model (ERD)</vt:lpstr>
      <vt:lpstr>How the AI agents work</vt:lpstr>
      <vt:lpstr>What I implemented</vt:lpstr>
      <vt:lpstr>What I would build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Solution Enablement Platform</dc:title>
  <dc:subject>PptxGenJS Presentation</dc:subject>
  <dc:creator>Maithiliii</dc:creator>
  <cp:lastModifiedBy>Maithili Naik</cp:lastModifiedBy>
  <cp:revision>2</cp:revision>
  <dcterms:created xsi:type="dcterms:W3CDTF">2026-10-28T09:17:12Z</dcterms:created>
  <dcterms:modified xsi:type="dcterms:W3CDTF">2026-10-28T10:19:33Z</dcterms:modified>
</cp:coreProperties>
</file>